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351" r:id="rId5"/>
    <p:sldId id="352" r:id="rId6"/>
  </p:sldIdLst>
  <p:sldSz cx="19046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>
            <p14:sldId id="351"/>
          </p14:sldIdLst>
        </p14:section>
        <p14:section name="Instructions" id="{53E2791F-512E-BF4D-8316-73914EEBE1B0}">
          <p14:sldIdLst>
            <p14:sldId id="352"/>
          </p14:sldIdLst>
        </p14:section>
        <p14:section name="Title/intro examples" id="{EAFC2341-9A9E-4C28-BFFA-6B825D0AC4BA}">
          <p14:sldIdLst/>
        </p14:section>
        <p14:section name="Section divider examples" id="{A9F40A45-B498-491F-B229-1F4185ACF804}">
          <p14:sldIdLst/>
        </p14:section>
        <p14:section name="Content slide examples" id="{C335665F-6942-4633-9A59-9BC53EDA1E36}">
          <p14:sldIdLst/>
        </p14:section>
        <p14:section name="Closing slide example" id="{11C5BCDD-05AC-405B-8582-D9D1C38F3D1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63" autoAdjust="0"/>
    <p:restoredTop sz="94645" autoAdjust="0"/>
  </p:normalViewPr>
  <p:slideViewPr>
    <p:cSldViewPr snapToGrid="0" showGuides="1">
      <p:cViewPr varScale="1">
        <p:scale>
          <a:sx n="101" d="100"/>
          <a:sy n="101" d="100"/>
        </p:scale>
        <p:origin x="248" y="1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79525" y="274638"/>
            <a:ext cx="7394575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743" y="2318273"/>
            <a:ext cx="10999344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sz="800" noProof="0" dirty="0"/>
              <a:t>Format Background… &gt; Picture or texture fill &gt; Set to one of the dark or mid gradient options</a:t>
            </a:r>
            <a:endParaRPr lang="en-US" sz="800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9028786" y="5382386"/>
            <a:ext cx="1002225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5999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743" y="2318273"/>
            <a:ext cx="10999344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sz="800" noProof="0" dirty="0"/>
              <a:t>Format Background… &gt; Picture or texture fill &gt; Set to one of the dark or mid gradient options</a:t>
            </a:r>
            <a:endParaRPr lang="en-US" sz="800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052043" y="5374204"/>
            <a:ext cx="294273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5999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9046825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7221921" y="0"/>
            <a:ext cx="112296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2" y="2318273"/>
            <a:ext cx="10999344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7015581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2" y="2318273"/>
            <a:ext cx="10999344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7015581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sz="1800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213" y="5607812"/>
            <a:ext cx="1002225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9046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221921" y="0"/>
            <a:ext cx="11229691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214" y="5282245"/>
            <a:ext cx="4846090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214" y="5527522"/>
            <a:ext cx="4846090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214" y="1429154"/>
            <a:ext cx="8049115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214" y="3871190"/>
            <a:ext cx="8049115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14882" y="1336294"/>
            <a:ext cx="12417061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00368" y="4501939"/>
            <a:ext cx="4846090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00368" y="4747217"/>
            <a:ext cx="4846090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4884" y="3866920"/>
            <a:ext cx="12417061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9028786" y="5382386"/>
            <a:ext cx="1002225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5999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14882" y="1336294"/>
            <a:ext cx="12417061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00368" y="4501939"/>
            <a:ext cx="4846090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00368" y="4747217"/>
            <a:ext cx="4846090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4884" y="3866920"/>
            <a:ext cx="12417061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052043" y="5374204"/>
            <a:ext cx="294273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5999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5160" y="381001"/>
            <a:ext cx="12494044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5160" y="4000503"/>
            <a:ext cx="10755334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5160" y="5107308"/>
            <a:ext cx="6428301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5160" y="5352587"/>
            <a:ext cx="6428301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4299512" y="5815655"/>
            <a:ext cx="294273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95215" y="381003"/>
            <a:ext cx="8928199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95216" y="310896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95216" y="4435948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595216" y="4190668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595217" y="5607811"/>
            <a:ext cx="1002225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215" y="381003"/>
            <a:ext cx="8928199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216" y="4190292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5216" y="4435948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216" y="310896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95216" y="5815655"/>
            <a:ext cx="294273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95215" y="1322687"/>
            <a:ext cx="8928199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95216" y="333273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595216" y="4670855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595216" y="4425575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5216" y="5326818"/>
            <a:ext cx="2943624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95217" y="381001"/>
            <a:ext cx="1002225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5160" y="381001"/>
            <a:ext cx="12494044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5160" y="4000503"/>
            <a:ext cx="10755334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5160" y="5107308"/>
            <a:ext cx="6428301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5160" y="5352587"/>
            <a:ext cx="6428301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4290091" y="5815545"/>
            <a:ext cx="294273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95215" y="381003"/>
            <a:ext cx="8928199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95216" y="310896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95216" y="4435948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595216" y="4190668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769" y="5607811"/>
            <a:ext cx="100218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95215" y="384048"/>
            <a:ext cx="8928199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95216" y="310896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595216" y="4434843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595216" y="4190292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216" y="5815546"/>
            <a:ext cx="294273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5160" y="381001"/>
            <a:ext cx="12494044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5160" y="4000503"/>
            <a:ext cx="10755334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5160" y="5107308"/>
            <a:ext cx="6428301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5160" y="5352587"/>
            <a:ext cx="6428301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307643" y="771529"/>
            <a:ext cx="2943624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4290091" y="5815545"/>
            <a:ext cx="294273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5160" y="381001"/>
            <a:ext cx="12494044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5160" y="4000502"/>
            <a:ext cx="10755334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5160" y="4734391"/>
            <a:ext cx="6428301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5160" y="4979668"/>
            <a:ext cx="6428301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307643" y="5326818"/>
            <a:ext cx="2943624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795159" y="5815546"/>
            <a:ext cx="294273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95215" y="384048"/>
            <a:ext cx="8928199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95216" y="310896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595216" y="4434843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595216" y="4206240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507987" y="5326818"/>
            <a:ext cx="2943624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95216" y="5815546"/>
            <a:ext cx="294273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95215" y="1322687"/>
            <a:ext cx="8928199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95216" y="3332733"/>
            <a:ext cx="6719455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595216" y="4670855"/>
            <a:ext cx="508220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595216" y="4425575"/>
            <a:ext cx="508220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7769" y="382725"/>
            <a:ext cx="1002180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5216" y="5326818"/>
            <a:ext cx="2943624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851" y="0"/>
            <a:ext cx="19043123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85640" y="4610102"/>
            <a:ext cx="7737773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713839" y="381002"/>
            <a:ext cx="7737773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43" y="381000"/>
            <a:ext cx="7737771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9046825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713839" y="381002"/>
            <a:ext cx="7737773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43" y="381000"/>
            <a:ext cx="7737771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85640" y="4610102"/>
            <a:ext cx="7737773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1"/>
            <a:ext cx="19046825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9002"/>
            <a:ext cx="19046825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41" y="3889828"/>
            <a:ext cx="9665128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785642" y="835806"/>
            <a:ext cx="9665126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84508" y="3889830"/>
            <a:ext cx="4676678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215" y="2182000"/>
            <a:ext cx="5103855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1371604"/>
            <a:ext cx="5103854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59600" y="1371600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59600" y="1976478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59600" y="2581356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59600" y="3186234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59600" y="3791112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9600" y="4395990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59600" y="5000868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759600" y="5605747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14851" y="1371600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14851" y="1976478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14851" y="2581356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14851" y="3186234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14851" y="3791112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14851" y="4395990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14851" y="5000868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14851" y="5605747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6319636" y="1371603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838255" y="1371600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3838255" y="1976478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3838255" y="2581356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8255" y="3186234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8255" y="3791112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838255" y="4395990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838255" y="5000868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38255" y="5605747"/>
            <a:ext cx="4613354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993506" y="1371600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993506" y="1976478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993506" y="2581356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2993506" y="3186234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993506" y="3791112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993506" y="4395990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993506" y="5000868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993506" y="5605747"/>
            <a:ext cx="632907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5216" y="1371600"/>
            <a:ext cx="17856398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5216" y="1371601"/>
            <a:ext cx="17856398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5216" y="1949194"/>
            <a:ext cx="17856398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213" y="3004460"/>
            <a:ext cx="8630593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21018" y="1371601"/>
            <a:ext cx="8630593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6" y="1371601"/>
            <a:ext cx="8630591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380999"/>
            <a:ext cx="17856396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5213" y="1371600"/>
            <a:ext cx="8630591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821020" y="1371600"/>
            <a:ext cx="8630591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380999"/>
            <a:ext cx="17856396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5213" y="1947672"/>
            <a:ext cx="8630591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821020" y="1947672"/>
            <a:ext cx="8630591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380999"/>
            <a:ext cx="17856396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5213" y="1949194"/>
            <a:ext cx="8630593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821018" y="1949194"/>
            <a:ext cx="8630593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5213" y="2772154"/>
            <a:ext cx="8630591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821020" y="2772154"/>
            <a:ext cx="8630591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381000"/>
            <a:ext cx="17856396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5213" y="2286000"/>
            <a:ext cx="5555324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5213" y="3108960"/>
            <a:ext cx="5555324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95213" y="1828800"/>
            <a:ext cx="5555324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745751" y="2286000"/>
            <a:ext cx="5555324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745751" y="3108960"/>
            <a:ext cx="5555324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745751" y="1828800"/>
            <a:ext cx="5555324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12896288" y="2286000"/>
            <a:ext cx="5555324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12896288" y="3108960"/>
            <a:ext cx="5555324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2896288" y="1828800"/>
            <a:ext cx="5555324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5214" y="2286000"/>
            <a:ext cx="4017688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95214" y="1828800"/>
            <a:ext cx="4017688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208117" y="2286000"/>
            <a:ext cx="401769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208117" y="1828800"/>
            <a:ext cx="401769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9821018" y="2286000"/>
            <a:ext cx="401769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9821018" y="1828800"/>
            <a:ext cx="401769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4433922" y="2286000"/>
            <a:ext cx="401769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4433922" y="1828800"/>
            <a:ext cx="401769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95214" y="3108962"/>
            <a:ext cx="4017688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5208118" y="3108962"/>
            <a:ext cx="4017688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9821019" y="3145138"/>
            <a:ext cx="4017688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14433925" y="3108962"/>
            <a:ext cx="4017688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7" y="381000"/>
            <a:ext cx="17856396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2"/>
            <a:ext cx="17856398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5081" y="2098874"/>
            <a:ext cx="2050896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614" y="3898902"/>
            <a:ext cx="3101833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79654" y="3898902"/>
            <a:ext cx="3101833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9696" y="3898902"/>
            <a:ext cx="3101833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59736" y="3898902"/>
            <a:ext cx="3101833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49779" y="3898902"/>
            <a:ext cx="3101833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783401" y="3634154"/>
            <a:ext cx="7142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5473443" y="3634154"/>
            <a:ext cx="7142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9163483" y="3634154"/>
            <a:ext cx="7142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12853525" y="3634154"/>
            <a:ext cx="7142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6543567" y="3634154"/>
            <a:ext cx="71425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05123" y="2098874"/>
            <a:ext cx="2050896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495164" y="2098874"/>
            <a:ext cx="2050896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185205" y="2098874"/>
            <a:ext cx="2050896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5875248" y="2098874"/>
            <a:ext cx="2050896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848" y="1560513"/>
            <a:ext cx="2959819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963617" y="1560513"/>
            <a:ext cx="2959819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123386" y="1560513"/>
            <a:ext cx="2959819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4283155" y="1560513"/>
            <a:ext cx="2959819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03844" y="3914042"/>
            <a:ext cx="3199442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63616" y="3914042"/>
            <a:ext cx="3199442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123385" y="3914042"/>
            <a:ext cx="3199442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283154" y="3914042"/>
            <a:ext cx="3199442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5213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80799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6385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51970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023142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937556" y="1845611"/>
            <a:ext cx="242847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612" y="3926555"/>
            <a:ext cx="242847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76319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3025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49731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36436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23142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9612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3680799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766385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851970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937556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023142" y="3672216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95213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80799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6385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51970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023142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9612" y="3926552"/>
            <a:ext cx="242847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76319" y="3926555"/>
            <a:ext cx="242847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937556" y="1845611"/>
            <a:ext cx="242847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3025" y="3926552"/>
            <a:ext cx="242847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49731" y="3926552"/>
            <a:ext cx="242847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36436" y="3926552"/>
            <a:ext cx="242847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23142" y="3926552"/>
            <a:ext cx="242847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95213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3680799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766385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851970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937556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6023142" y="3647164"/>
            <a:ext cx="71425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5214" y="1295236"/>
            <a:ext cx="5530883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57968" y="1295236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39346" y="1295236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002104" y="1295236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920725" y="1295236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57971" y="2786552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39350" y="2786552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920729" y="2786552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02107" y="2786552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757972" y="3842163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839350" y="3842163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6002104" y="3842163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2920728" y="3842163"/>
            <a:ext cx="1854293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57971" y="5333480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39350" y="5333480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920729" y="5333480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6002107" y="5333480"/>
            <a:ext cx="2449506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757971" y="2616843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839349" y="2616843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2920728" y="2616843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6002106" y="2616843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757971" y="5165507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9839349" y="5165507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2920728" y="5165507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6002103" y="5165507"/>
            <a:ext cx="55712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9523412" y="1"/>
            <a:ext cx="9523413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3" y="381000"/>
            <a:ext cx="8332986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947" y="6483010"/>
            <a:ext cx="298523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5213" y="3267634"/>
            <a:ext cx="8328224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9523450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9046825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18624" y="381000"/>
            <a:ext cx="8332986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23386" y="3264589"/>
            <a:ext cx="8328224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77606" y="943234"/>
            <a:ext cx="6547346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0713842" y="744434"/>
            <a:ext cx="6547343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41" y="1593669"/>
            <a:ext cx="7737771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0713842" y="744434"/>
            <a:ext cx="6547343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641" y="1593669"/>
            <a:ext cx="7737771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5" y="0"/>
            <a:ext cx="9523425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192" y="1490071"/>
            <a:ext cx="3571273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23400" y="0"/>
            <a:ext cx="9523425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215" y="381001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9523425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56907" y="381001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215" y="3536951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6907" y="3536951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4761704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9046825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56907" y="1490071"/>
            <a:ext cx="3571273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5192" y="4646024"/>
            <a:ext cx="3571273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6907" y="4646020"/>
            <a:ext cx="3571273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595947" y="6482516"/>
            <a:ext cx="298523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14" y="380999"/>
            <a:ext cx="8332938" cy="2393952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9046825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14285206" y="3155948"/>
            <a:ext cx="4761619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4761706" y="3155948"/>
            <a:ext cx="4761656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23375" y="0"/>
            <a:ext cx="476174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80343" y="381001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0341" y="1490071"/>
            <a:ext cx="3571272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56901" y="3538766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6898" y="4647839"/>
            <a:ext cx="3571272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18620" y="3538766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18617" y="4647835"/>
            <a:ext cx="3571272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4761706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880334" y="3538766"/>
            <a:ext cx="3571273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80331" y="4647836"/>
            <a:ext cx="3571272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595947" y="6482516"/>
            <a:ext cx="298523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904682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90" y="2015925"/>
            <a:ext cx="13523246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90" y="2015925"/>
            <a:ext cx="13523246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9523413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904" y="-9144"/>
            <a:ext cx="19070634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1787" y="2015925"/>
            <a:ext cx="13523246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95946" y="6483676"/>
            <a:ext cx="286350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14" y="381000"/>
            <a:ext cx="17856398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14" y="1234440"/>
            <a:ext cx="17856398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95214" y="380999"/>
            <a:ext cx="17856398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95214" y="1371602"/>
            <a:ext cx="17856398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15291114" y="0"/>
            <a:ext cx="3160498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93978" y="6483675"/>
            <a:ext cx="28620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941925" y="6490025"/>
            <a:ext cx="509687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11428095" y="6493507"/>
            <a:ext cx="6428303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sz="800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375" userDrawn="1">
          <p15:clr>
            <a:srgbClr val="C35EA4"/>
          </p15:clr>
        </p15:guide>
        <p15:guide id="4" pos="11623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71B6A-1D11-DC9D-8113-EFD08496F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1F4C71-2E25-B12D-1089-09A3C72C9CB7}"/>
              </a:ext>
            </a:extLst>
          </p:cNvPr>
          <p:cNvSpPr/>
          <p:nvPr/>
        </p:nvSpPr>
        <p:spPr>
          <a:xfrm>
            <a:off x="1810646" y="559203"/>
            <a:ext cx="13089105" cy="186140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AEBD95-16EE-FD03-44AB-4B59B9ECACB9}"/>
              </a:ext>
            </a:extLst>
          </p:cNvPr>
          <p:cNvSpPr/>
          <p:nvPr/>
        </p:nvSpPr>
        <p:spPr>
          <a:xfrm>
            <a:off x="2174684" y="465346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5C91CC-602C-B985-EC1C-B6C87FF15742}"/>
              </a:ext>
            </a:extLst>
          </p:cNvPr>
          <p:cNvSpPr/>
          <p:nvPr/>
        </p:nvSpPr>
        <p:spPr>
          <a:xfrm>
            <a:off x="202830" y="3781528"/>
            <a:ext cx="657895" cy="28293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Simulator</a:t>
            </a:r>
            <a:endParaRPr lang="en-US" sz="800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CA2314-4DA4-EE6E-4FC8-321ADC0145E5}"/>
              </a:ext>
            </a:extLst>
          </p:cNvPr>
          <p:cNvSpPr/>
          <p:nvPr/>
        </p:nvSpPr>
        <p:spPr>
          <a:xfrm>
            <a:off x="2248660" y="1190492"/>
            <a:ext cx="835470" cy="23881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Cardholder App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739B0F8-55BA-043D-DC37-B96670AF2016}"/>
              </a:ext>
            </a:extLst>
          </p:cNvPr>
          <p:cNvSpPr/>
          <p:nvPr/>
        </p:nvSpPr>
        <p:spPr>
          <a:xfrm rot="5400000">
            <a:off x="3765922" y="1091267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A00D2"/>
              </a:solidFill>
            </a:endParaRPr>
          </a:p>
        </p:txBody>
      </p:sp>
      <p:cxnSp>
        <p:nvCxnSpPr>
          <p:cNvPr id="9" name="Straight Arrow Connector 47">
            <a:extLst>
              <a:ext uri="{FF2B5EF4-FFF2-40B4-BE49-F238E27FC236}">
                <a16:creationId xmlns:a16="http://schemas.microsoft.com/office/drawing/2014/main" id="{92A22351-2B77-D837-2022-1A6DE6F5EB2A}"/>
              </a:ext>
            </a:extLst>
          </p:cNvPr>
          <p:cNvCxnSpPr>
            <a:cxnSpLocks/>
            <a:stCxn id="6" idx="3"/>
            <a:endCxn id="32" idx="0"/>
          </p:cNvCxnSpPr>
          <p:nvPr/>
        </p:nvCxnSpPr>
        <p:spPr>
          <a:xfrm flipV="1">
            <a:off x="860725" y="1306595"/>
            <a:ext cx="849626" cy="261640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BBA13F-F3DF-CC62-57A7-C837DBB4B0CB}"/>
              </a:ext>
            </a:extLst>
          </p:cNvPr>
          <p:cNvSpPr/>
          <p:nvPr/>
        </p:nvSpPr>
        <p:spPr>
          <a:xfrm>
            <a:off x="3597069" y="1461724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6FF9CA-5B88-8994-82C3-A3C5BD3BC8CF}"/>
              </a:ext>
            </a:extLst>
          </p:cNvPr>
          <p:cNvSpPr/>
          <p:nvPr/>
        </p:nvSpPr>
        <p:spPr>
          <a:xfrm>
            <a:off x="3854565" y="1461724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7B3AC1-ABEB-5463-46D9-B3E60A1CD4BD}"/>
              </a:ext>
            </a:extLst>
          </p:cNvPr>
          <p:cNvSpPr txBox="1"/>
          <p:nvPr/>
        </p:nvSpPr>
        <p:spPr>
          <a:xfrm>
            <a:off x="4477596" y="16983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49D07956-8CA9-94FF-A8CE-F50F8696AF47}"/>
              </a:ext>
            </a:extLst>
          </p:cNvPr>
          <p:cNvSpPr/>
          <p:nvPr/>
        </p:nvSpPr>
        <p:spPr>
          <a:xfrm>
            <a:off x="2328352" y="1752819"/>
            <a:ext cx="676093" cy="253790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700" b="1" dirty="0"/>
              <a:t>RDBMS</a:t>
            </a:r>
            <a:endParaRPr lang="en-GB" sz="800" b="1" dirty="0"/>
          </a:p>
        </p:txBody>
      </p: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BE64EA33-D83F-40EF-553D-41053DE98892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2504641" y="1591060"/>
            <a:ext cx="323513" cy="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530E8E04-602C-42FC-7713-A5A828A0E8C6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rot="16200000" flipH="1">
            <a:off x="3005178" y="1090522"/>
            <a:ext cx="119628" cy="797195"/>
          </a:xfrm>
          <a:prstGeom prst="curvedConnector2">
            <a:avLst/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71BAD0E-9EF6-53C1-A79A-0A6ABF4F606E}"/>
              </a:ext>
            </a:extLst>
          </p:cNvPr>
          <p:cNvSpPr/>
          <p:nvPr/>
        </p:nvSpPr>
        <p:spPr>
          <a:xfrm rot="16200000">
            <a:off x="1514050" y="1196422"/>
            <a:ext cx="612947" cy="22034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API</a:t>
            </a:r>
            <a:endParaRPr lang="en-US" sz="800" b="1" dirty="0"/>
          </a:p>
        </p:txBody>
      </p:sp>
      <p:cxnSp>
        <p:nvCxnSpPr>
          <p:cNvPr id="36" name="Straight Arrow Connector 47">
            <a:extLst>
              <a:ext uri="{FF2B5EF4-FFF2-40B4-BE49-F238E27FC236}">
                <a16:creationId xmlns:a16="http://schemas.microsoft.com/office/drawing/2014/main" id="{EF37B0AA-F45A-9205-F5C7-3053FBEBA230}"/>
              </a:ext>
            </a:extLst>
          </p:cNvPr>
          <p:cNvCxnSpPr>
            <a:cxnSpLocks/>
            <a:stCxn id="32" idx="2"/>
            <a:endCxn id="7" idx="1"/>
          </p:cNvCxnSpPr>
          <p:nvPr/>
        </p:nvCxnSpPr>
        <p:spPr>
          <a:xfrm>
            <a:off x="1930697" y="1306595"/>
            <a:ext cx="317963" cy="330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n 39">
            <a:extLst>
              <a:ext uri="{FF2B5EF4-FFF2-40B4-BE49-F238E27FC236}">
                <a16:creationId xmlns:a16="http://schemas.microsoft.com/office/drawing/2014/main" id="{E54C50A4-C88E-6DBD-E11D-BC4723D82D05}"/>
              </a:ext>
            </a:extLst>
          </p:cNvPr>
          <p:cNvSpPr/>
          <p:nvPr/>
        </p:nvSpPr>
        <p:spPr>
          <a:xfrm rot="5400000">
            <a:off x="2391444" y="3465329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4E2B388-CF1A-7CCE-CAF6-1B0CFA54920A}"/>
              </a:ext>
            </a:extLst>
          </p:cNvPr>
          <p:cNvSpPr/>
          <p:nvPr/>
        </p:nvSpPr>
        <p:spPr>
          <a:xfrm>
            <a:off x="2222591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24DE3F9-112C-02ED-3B82-EDBF2411C272}"/>
              </a:ext>
            </a:extLst>
          </p:cNvPr>
          <p:cNvSpPr/>
          <p:nvPr/>
        </p:nvSpPr>
        <p:spPr>
          <a:xfrm>
            <a:off x="2480087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F122D4-FC5A-4094-E7C2-BB4D5BF67890}"/>
              </a:ext>
            </a:extLst>
          </p:cNvPr>
          <p:cNvSpPr txBox="1"/>
          <p:nvPr/>
        </p:nvSpPr>
        <p:spPr>
          <a:xfrm>
            <a:off x="3103118" y="40724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BCAFE5B-454A-CB91-AFDA-A94EB7FB4DC6}"/>
              </a:ext>
            </a:extLst>
          </p:cNvPr>
          <p:cNvSpPr/>
          <p:nvPr/>
        </p:nvSpPr>
        <p:spPr>
          <a:xfrm>
            <a:off x="3412698" y="3820074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Flagger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63148-4886-FEFD-6A8F-2232B8D9A633}"/>
              </a:ext>
            </a:extLst>
          </p:cNvPr>
          <p:cNvSpPr txBox="1"/>
          <p:nvPr/>
        </p:nvSpPr>
        <p:spPr>
          <a:xfrm>
            <a:off x="3533371" y="1242091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pub.cust.cardholder.state.v1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919C9D-01B9-CFBC-746F-BBAFFAE4F235}"/>
              </a:ext>
            </a:extLst>
          </p:cNvPr>
          <p:cNvSpPr txBox="1"/>
          <p:nvPr/>
        </p:nvSpPr>
        <p:spPr>
          <a:xfrm>
            <a:off x="2052791" y="3600757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priv.pay.transaction.delta.v1</a:t>
            </a:r>
          </a:p>
        </p:txBody>
      </p:sp>
      <p:sp>
        <p:nvSpPr>
          <p:cNvPr id="47" name="Can 46">
            <a:extLst>
              <a:ext uri="{FF2B5EF4-FFF2-40B4-BE49-F238E27FC236}">
                <a16:creationId xmlns:a16="http://schemas.microsoft.com/office/drawing/2014/main" id="{696F5165-E584-1361-08BE-F6AD14016330}"/>
              </a:ext>
            </a:extLst>
          </p:cNvPr>
          <p:cNvSpPr/>
          <p:nvPr/>
        </p:nvSpPr>
        <p:spPr>
          <a:xfrm rot="5400000">
            <a:off x="2391444" y="4067290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FC7DCCC-AE56-E390-D568-69B0BD614F15}"/>
              </a:ext>
            </a:extLst>
          </p:cNvPr>
          <p:cNvSpPr/>
          <p:nvPr/>
        </p:nvSpPr>
        <p:spPr>
          <a:xfrm>
            <a:off x="2222591" y="4437747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013258CB-6810-B545-E055-CA874DD464D5}"/>
              </a:ext>
            </a:extLst>
          </p:cNvPr>
          <p:cNvSpPr/>
          <p:nvPr/>
        </p:nvSpPr>
        <p:spPr>
          <a:xfrm>
            <a:off x="2480087" y="4437747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0F7587-689E-E500-15A9-3C00B59A29F2}"/>
              </a:ext>
            </a:extLst>
          </p:cNvPr>
          <p:cNvSpPr txBox="1"/>
          <p:nvPr/>
        </p:nvSpPr>
        <p:spPr>
          <a:xfrm>
            <a:off x="3103118" y="46743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C729E1-17E8-D677-4161-32F3326192A5}"/>
              </a:ext>
            </a:extLst>
          </p:cNvPr>
          <p:cNvSpPr txBox="1"/>
          <p:nvPr/>
        </p:nvSpPr>
        <p:spPr>
          <a:xfrm>
            <a:off x="2016591" y="4205977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priv.pay.blacklist.state.v1</a:t>
            </a:r>
          </a:p>
        </p:txBody>
      </p:sp>
      <p:cxnSp>
        <p:nvCxnSpPr>
          <p:cNvPr id="52" name="Straight Arrow Connector 47">
            <a:extLst>
              <a:ext uri="{FF2B5EF4-FFF2-40B4-BE49-F238E27FC236}">
                <a16:creationId xmlns:a16="http://schemas.microsoft.com/office/drawing/2014/main" id="{AA652E08-1A74-33FA-4995-A4A8C3244368}"/>
              </a:ext>
            </a:extLst>
          </p:cNvPr>
          <p:cNvCxnSpPr>
            <a:cxnSpLocks/>
            <a:stCxn id="6" idx="3"/>
            <a:endCxn id="40" idx="3"/>
          </p:cNvCxnSpPr>
          <p:nvPr/>
        </p:nvCxnSpPr>
        <p:spPr>
          <a:xfrm>
            <a:off x="860725" y="3922994"/>
            <a:ext cx="1228385" cy="12700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n 56">
            <a:extLst>
              <a:ext uri="{FF2B5EF4-FFF2-40B4-BE49-F238E27FC236}">
                <a16:creationId xmlns:a16="http://schemas.microsoft.com/office/drawing/2014/main" id="{290DD704-C326-9CCB-634B-624DDF1432B4}"/>
              </a:ext>
            </a:extLst>
          </p:cNvPr>
          <p:cNvSpPr/>
          <p:nvPr/>
        </p:nvSpPr>
        <p:spPr>
          <a:xfrm rot="5400000">
            <a:off x="4681255" y="3465330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60953A4-6394-9BF2-FBE1-E0726FB825EB}"/>
              </a:ext>
            </a:extLst>
          </p:cNvPr>
          <p:cNvSpPr/>
          <p:nvPr/>
        </p:nvSpPr>
        <p:spPr>
          <a:xfrm>
            <a:off x="4512402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599B538-1D22-D5ED-D3EE-360CE134FE3B}"/>
              </a:ext>
            </a:extLst>
          </p:cNvPr>
          <p:cNvSpPr/>
          <p:nvPr/>
        </p:nvSpPr>
        <p:spPr>
          <a:xfrm>
            <a:off x="4769898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8C6BB0-2044-AB73-8031-130D526E5985}"/>
              </a:ext>
            </a:extLst>
          </p:cNvPr>
          <p:cNvSpPr txBox="1"/>
          <p:nvPr/>
        </p:nvSpPr>
        <p:spPr>
          <a:xfrm>
            <a:off x="5392929" y="40724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F233E7-800D-FB9B-4484-41D0DD93B4B3}"/>
              </a:ext>
            </a:extLst>
          </p:cNvPr>
          <p:cNvSpPr txBox="1"/>
          <p:nvPr/>
        </p:nvSpPr>
        <p:spPr>
          <a:xfrm>
            <a:off x="4097137" y="3617478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priv.pay.transaction-flagged.delta.v1</a:t>
            </a:r>
          </a:p>
        </p:txBody>
      </p:sp>
      <p:cxnSp>
        <p:nvCxnSpPr>
          <p:cNvPr id="62" name="Straight Arrow Connector 47">
            <a:extLst>
              <a:ext uri="{FF2B5EF4-FFF2-40B4-BE49-F238E27FC236}">
                <a16:creationId xmlns:a16="http://schemas.microsoft.com/office/drawing/2014/main" id="{20C036AA-B685-617D-5A1F-232A3F3C99AE}"/>
              </a:ext>
            </a:extLst>
          </p:cNvPr>
          <p:cNvCxnSpPr>
            <a:cxnSpLocks/>
            <a:stCxn id="40" idx="1"/>
            <a:endCxn id="44" idx="1"/>
          </p:cNvCxnSpPr>
          <p:nvPr/>
        </p:nvCxnSpPr>
        <p:spPr>
          <a:xfrm>
            <a:off x="3004445" y="3922996"/>
            <a:ext cx="408255" cy="15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47">
            <a:extLst>
              <a:ext uri="{FF2B5EF4-FFF2-40B4-BE49-F238E27FC236}">
                <a16:creationId xmlns:a16="http://schemas.microsoft.com/office/drawing/2014/main" id="{DD759A66-46BB-215B-E30B-24C25CBDC252}"/>
              </a:ext>
            </a:extLst>
          </p:cNvPr>
          <p:cNvCxnSpPr>
            <a:cxnSpLocks/>
            <a:stCxn id="44" idx="3"/>
            <a:endCxn id="57" idx="3"/>
          </p:cNvCxnSpPr>
          <p:nvPr/>
        </p:nvCxnSpPr>
        <p:spPr>
          <a:xfrm flipV="1">
            <a:off x="4071778" y="3922995"/>
            <a:ext cx="307145" cy="15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3F967BF-AA25-4998-DEF3-F0644C6801B5}"/>
              </a:ext>
            </a:extLst>
          </p:cNvPr>
          <p:cNvSpPr/>
          <p:nvPr/>
        </p:nvSpPr>
        <p:spPr>
          <a:xfrm>
            <a:off x="5764659" y="382522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375B5F-79F4-29AF-3B7D-5DA7833DC4F1}"/>
              </a:ext>
            </a:extLst>
          </p:cNvPr>
          <p:cNvSpPr txBox="1"/>
          <p:nvPr/>
        </p:nvSpPr>
        <p:spPr>
          <a:xfrm>
            <a:off x="3140200" y="524627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70" name="Can 69">
            <a:extLst>
              <a:ext uri="{FF2B5EF4-FFF2-40B4-BE49-F238E27FC236}">
                <a16:creationId xmlns:a16="http://schemas.microsoft.com/office/drawing/2014/main" id="{9AA50E46-927F-D83B-F24B-5E79A602E614}"/>
              </a:ext>
            </a:extLst>
          </p:cNvPr>
          <p:cNvSpPr/>
          <p:nvPr/>
        </p:nvSpPr>
        <p:spPr>
          <a:xfrm rot="5400000">
            <a:off x="4503127" y="5014805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D96C14F-0487-9375-442F-DFFBA2032D15}"/>
              </a:ext>
            </a:extLst>
          </p:cNvPr>
          <p:cNvSpPr/>
          <p:nvPr/>
        </p:nvSpPr>
        <p:spPr>
          <a:xfrm>
            <a:off x="4334274" y="538526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925D4DC-17EA-66EA-6069-0E3D1C695462}"/>
              </a:ext>
            </a:extLst>
          </p:cNvPr>
          <p:cNvSpPr/>
          <p:nvPr/>
        </p:nvSpPr>
        <p:spPr>
          <a:xfrm>
            <a:off x="4591770" y="538526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CADAA7-AD2A-5CFC-0995-4CF5D348188C}"/>
              </a:ext>
            </a:extLst>
          </p:cNvPr>
          <p:cNvSpPr txBox="1"/>
          <p:nvPr/>
        </p:nvSpPr>
        <p:spPr>
          <a:xfrm>
            <a:off x="5214801" y="56218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2D48DD-77F4-37B9-731C-69FD05A0F174}"/>
              </a:ext>
            </a:extLst>
          </p:cNvPr>
          <p:cNvSpPr txBox="1"/>
          <p:nvPr/>
        </p:nvSpPr>
        <p:spPr>
          <a:xfrm>
            <a:off x="4200795" y="5188234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priv.ref.merchant.state.v1</a:t>
            </a:r>
          </a:p>
        </p:txBody>
      </p:sp>
      <p:cxnSp>
        <p:nvCxnSpPr>
          <p:cNvPr id="75" name="Straight Arrow Connector 47">
            <a:extLst>
              <a:ext uri="{FF2B5EF4-FFF2-40B4-BE49-F238E27FC236}">
                <a16:creationId xmlns:a16="http://schemas.microsoft.com/office/drawing/2014/main" id="{BA9EE777-AF5C-5498-54DF-E2A83B004BA5}"/>
              </a:ext>
            </a:extLst>
          </p:cNvPr>
          <p:cNvCxnSpPr>
            <a:cxnSpLocks/>
            <a:stCxn id="6" idx="3"/>
            <a:endCxn id="2" idx="2"/>
          </p:cNvCxnSpPr>
          <p:nvPr/>
        </p:nvCxnSpPr>
        <p:spPr>
          <a:xfrm>
            <a:off x="860725" y="3922996"/>
            <a:ext cx="1349250" cy="155184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47">
            <a:extLst>
              <a:ext uri="{FF2B5EF4-FFF2-40B4-BE49-F238E27FC236}">
                <a16:creationId xmlns:a16="http://schemas.microsoft.com/office/drawing/2014/main" id="{70FA9155-09FC-9DDF-842B-16416F0030D2}"/>
              </a:ext>
            </a:extLst>
          </p:cNvPr>
          <p:cNvCxnSpPr>
            <a:cxnSpLocks/>
            <a:stCxn id="57" idx="1"/>
            <a:endCxn id="68" idx="1"/>
          </p:cNvCxnSpPr>
          <p:nvPr/>
        </p:nvCxnSpPr>
        <p:spPr>
          <a:xfrm>
            <a:off x="5294256" y="3922995"/>
            <a:ext cx="470405" cy="530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47">
            <a:extLst>
              <a:ext uri="{FF2B5EF4-FFF2-40B4-BE49-F238E27FC236}">
                <a16:creationId xmlns:a16="http://schemas.microsoft.com/office/drawing/2014/main" id="{F99E8E86-D6E3-B00A-58F2-7B7AB4AB442D}"/>
              </a:ext>
            </a:extLst>
          </p:cNvPr>
          <p:cNvCxnSpPr>
            <a:cxnSpLocks/>
            <a:stCxn id="70" idx="1"/>
            <a:endCxn id="44" idx="1"/>
          </p:cNvCxnSpPr>
          <p:nvPr/>
        </p:nvCxnSpPr>
        <p:spPr>
          <a:xfrm flipH="1" flipV="1">
            <a:off x="3412698" y="3923149"/>
            <a:ext cx="1703430" cy="1549323"/>
          </a:xfrm>
          <a:prstGeom prst="curvedConnector5">
            <a:avLst>
              <a:gd name="adj1" fmla="val -13420"/>
              <a:gd name="adj2" fmla="val 64470"/>
              <a:gd name="adj3" fmla="val 109291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n 84">
            <a:extLst>
              <a:ext uri="{FF2B5EF4-FFF2-40B4-BE49-F238E27FC236}">
                <a16:creationId xmlns:a16="http://schemas.microsoft.com/office/drawing/2014/main" id="{264B921C-8384-5816-DFE4-FF7CFC05FC00}"/>
              </a:ext>
            </a:extLst>
          </p:cNvPr>
          <p:cNvSpPr/>
          <p:nvPr/>
        </p:nvSpPr>
        <p:spPr>
          <a:xfrm rot="5400000">
            <a:off x="7117946" y="3470607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43926318-C26E-5E41-A656-F91EB3A106D2}"/>
              </a:ext>
            </a:extLst>
          </p:cNvPr>
          <p:cNvSpPr/>
          <p:nvPr/>
        </p:nvSpPr>
        <p:spPr>
          <a:xfrm>
            <a:off x="6949093" y="3841063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416955E6-83D8-C23D-D6C6-0326D38E971F}"/>
              </a:ext>
            </a:extLst>
          </p:cNvPr>
          <p:cNvSpPr/>
          <p:nvPr/>
        </p:nvSpPr>
        <p:spPr>
          <a:xfrm>
            <a:off x="7206589" y="3841063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802BDD2-DB12-C7AF-B77D-4E88A699F5E0}"/>
              </a:ext>
            </a:extLst>
          </p:cNvPr>
          <p:cNvSpPr txBox="1"/>
          <p:nvPr/>
        </p:nvSpPr>
        <p:spPr>
          <a:xfrm>
            <a:off x="7829620" y="407769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D46FDB-0FFB-EF80-18FD-4E47568ECE41}"/>
              </a:ext>
            </a:extLst>
          </p:cNvPr>
          <p:cNvSpPr txBox="1"/>
          <p:nvPr/>
        </p:nvSpPr>
        <p:spPr>
          <a:xfrm>
            <a:off x="6533828" y="3622755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priv.pay.transaction-flagged-enriched.delta.v1</a:t>
            </a:r>
          </a:p>
        </p:txBody>
      </p:sp>
      <p:cxnSp>
        <p:nvCxnSpPr>
          <p:cNvPr id="90" name="Straight Arrow Connector 47">
            <a:extLst>
              <a:ext uri="{FF2B5EF4-FFF2-40B4-BE49-F238E27FC236}">
                <a16:creationId xmlns:a16="http://schemas.microsoft.com/office/drawing/2014/main" id="{EA31A2EC-2B3B-2A9D-3F1C-5623F7FEAEAD}"/>
              </a:ext>
            </a:extLst>
          </p:cNvPr>
          <p:cNvCxnSpPr>
            <a:cxnSpLocks/>
            <a:stCxn id="68" idx="3"/>
            <a:endCxn id="85" idx="3"/>
          </p:cNvCxnSpPr>
          <p:nvPr/>
        </p:nvCxnSpPr>
        <p:spPr>
          <a:xfrm flipV="1">
            <a:off x="6423739" y="3928274"/>
            <a:ext cx="391875" cy="29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47">
            <a:extLst>
              <a:ext uri="{FF2B5EF4-FFF2-40B4-BE49-F238E27FC236}">
                <a16:creationId xmlns:a16="http://schemas.microsoft.com/office/drawing/2014/main" id="{BB095171-4BEC-47EF-9619-ABC24BB72F49}"/>
              </a:ext>
            </a:extLst>
          </p:cNvPr>
          <p:cNvCxnSpPr>
            <a:cxnSpLocks/>
            <a:stCxn id="85" idx="1"/>
            <a:endCxn id="112" idx="1"/>
          </p:cNvCxnSpPr>
          <p:nvPr/>
        </p:nvCxnSpPr>
        <p:spPr>
          <a:xfrm flipV="1">
            <a:off x="7730947" y="3927797"/>
            <a:ext cx="2624072" cy="47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47">
            <a:extLst>
              <a:ext uri="{FF2B5EF4-FFF2-40B4-BE49-F238E27FC236}">
                <a16:creationId xmlns:a16="http://schemas.microsoft.com/office/drawing/2014/main" id="{A22381D0-0930-9087-DF0D-86B2FD58149F}"/>
              </a:ext>
            </a:extLst>
          </p:cNvPr>
          <p:cNvCxnSpPr>
            <a:cxnSpLocks/>
            <a:stCxn id="47" idx="1"/>
            <a:endCxn id="44" idx="1"/>
          </p:cNvCxnSpPr>
          <p:nvPr/>
        </p:nvCxnSpPr>
        <p:spPr>
          <a:xfrm flipV="1">
            <a:off x="3004445" y="3923149"/>
            <a:ext cx="408255" cy="60180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DB5A2245-BB8B-CB08-55E5-39AEEAA0AE25}"/>
              </a:ext>
            </a:extLst>
          </p:cNvPr>
          <p:cNvSpPr/>
          <p:nvPr/>
        </p:nvSpPr>
        <p:spPr>
          <a:xfrm>
            <a:off x="10355019" y="3824722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43A66110-E559-7536-F9DC-C85288D0D1E6}"/>
              </a:ext>
            </a:extLst>
          </p:cNvPr>
          <p:cNvSpPr/>
          <p:nvPr/>
        </p:nvSpPr>
        <p:spPr>
          <a:xfrm>
            <a:off x="10355019" y="1439424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cxnSp>
        <p:nvCxnSpPr>
          <p:cNvPr id="114" name="Straight Arrow Connector 47">
            <a:extLst>
              <a:ext uri="{FF2B5EF4-FFF2-40B4-BE49-F238E27FC236}">
                <a16:creationId xmlns:a16="http://schemas.microsoft.com/office/drawing/2014/main" id="{2FBB43B0-7E4F-E17A-97F5-DF01085399A9}"/>
              </a:ext>
            </a:extLst>
          </p:cNvPr>
          <p:cNvCxnSpPr>
            <a:cxnSpLocks/>
            <a:stCxn id="8" idx="1"/>
            <a:endCxn id="113" idx="1"/>
          </p:cNvCxnSpPr>
          <p:nvPr/>
        </p:nvCxnSpPr>
        <p:spPr>
          <a:xfrm flipV="1">
            <a:off x="4378921" y="1542501"/>
            <a:ext cx="5976098" cy="6433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Table outline">
            <a:extLst>
              <a:ext uri="{FF2B5EF4-FFF2-40B4-BE49-F238E27FC236}">
                <a16:creationId xmlns:a16="http://schemas.microsoft.com/office/drawing/2014/main" id="{ADDE294A-3305-3A8A-60E0-3B42EE8E8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6364" y="1293794"/>
            <a:ext cx="481251" cy="481251"/>
          </a:xfrm>
          <a:prstGeom prst="rect">
            <a:avLst/>
          </a:prstGeom>
        </p:spPr>
      </p:pic>
      <p:pic>
        <p:nvPicPr>
          <p:cNvPr id="126" name="Graphic 125" descr="Table outline">
            <a:extLst>
              <a:ext uri="{FF2B5EF4-FFF2-40B4-BE49-F238E27FC236}">
                <a16:creationId xmlns:a16="http://schemas.microsoft.com/office/drawing/2014/main" id="{38BB9873-E195-C10B-33CB-67959C961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6364" y="3686462"/>
            <a:ext cx="481251" cy="481251"/>
          </a:xfrm>
          <a:prstGeom prst="rect">
            <a:avLst/>
          </a:prstGeom>
        </p:spPr>
      </p:pic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BC080405-CFDF-CBF9-55E6-5BBA24C87966}"/>
              </a:ext>
            </a:extLst>
          </p:cNvPr>
          <p:cNvSpPr/>
          <p:nvPr/>
        </p:nvSpPr>
        <p:spPr>
          <a:xfrm>
            <a:off x="12719472" y="142394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Normalizer</a:t>
            </a:r>
          </a:p>
        </p:txBody>
      </p:sp>
      <p:pic>
        <p:nvPicPr>
          <p:cNvPr id="128" name="Graphic 127" descr="Table outline">
            <a:extLst>
              <a:ext uri="{FF2B5EF4-FFF2-40B4-BE49-F238E27FC236}">
                <a16:creationId xmlns:a16="http://schemas.microsoft.com/office/drawing/2014/main" id="{9D6A203B-84A3-2383-0E04-6968FA208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4" y="711181"/>
            <a:ext cx="481251" cy="481251"/>
          </a:xfrm>
          <a:prstGeom prst="rect">
            <a:avLst/>
          </a:prstGeom>
        </p:spPr>
      </p:pic>
      <p:pic>
        <p:nvPicPr>
          <p:cNvPr id="129" name="Graphic 128" descr="Table outline">
            <a:extLst>
              <a:ext uri="{FF2B5EF4-FFF2-40B4-BE49-F238E27FC236}">
                <a16:creationId xmlns:a16="http://schemas.microsoft.com/office/drawing/2014/main" id="{3297E730-482B-433E-8D95-D14C381CD2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3" y="1873076"/>
            <a:ext cx="481251" cy="481251"/>
          </a:xfrm>
          <a:prstGeom prst="rect">
            <a:avLst/>
          </a:prstGeom>
        </p:spPr>
      </p:pic>
      <p:pic>
        <p:nvPicPr>
          <p:cNvPr id="130" name="Graphic 129" descr="Table outline">
            <a:extLst>
              <a:ext uri="{FF2B5EF4-FFF2-40B4-BE49-F238E27FC236}">
                <a16:creationId xmlns:a16="http://schemas.microsoft.com/office/drawing/2014/main" id="{4CA19FBD-E65A-2DD9-2081-A127FD6A6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3" y="1289820"/>
            <a:ext cx="481251" cy="481251"/>
          </a:xfrm>
          <a:prstGeom prst="rect">
            <a:avLst/>
          </a:prstGeom>
        </p:spPr>
      </p:pic>
      <p:pic>
        <p:nvPicPr>
          <p:cNvPr id="131" name="Graphic 130" descr="Table outline">
            <a:extLst>
              <a:ext uri="{FF2B5EF4-FFF2-40B4-BE49-F238E27FC236}">
                <a16:creationId xmlns:a16="http://schemas.microsoft.com/office/drawing/2014/main" id="{77737AD5-7218-C38E-2131-CC3264C25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07134" y="3007072"/>
            <a:ext cx="481251" cy="481251"/>
          </a:xfrm>
          <a:prstGeom prst="rect">
            <a:avLst/>
          </a:prstGeom>
        </p:spPr>
      </p:pic>
      <p:cxnSp>
        <p:nvCxnSpPr>
          <p:cNvPr id="132" name="Straight Arrow Connector 47">
            <a:extLst>
              <a:ext uri="{FF2B5EF4-FFF2-40B4-BE49-F238E27FC236}">
                <a16:creationId xmlns:a16="http://schemas.microsoft.com/office/drawing/2014/main" id="{45C0CB80-7EF0-9435-4526-25AC2D548A44}"/>
              </a:ext>
            </a:extLst>
          </p:cNvPr>
          <p:cNvCxnSpPr>
            <a:cxnSpLocks/>
            <a:stCxn id="113" idx="3"/>
            <a:endCxn id="123" idx="1"/>
          </p:cNvCxnSpPr>
          <p:nvPr/>
        </p:nvCxnSpPr>
        <p:spPr>
          <a:xfrm flipV="1">
            <a:off x="11014099" y="1534420"/>
            <a:ext cx="402265" cy="808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47">
            <a:extLst>
              <a:ext uri="{FF2B5EF4-FFF2-40B4-BE49-F238E27FC236}">
                <a16:creationId xmlns:a16="http://schemas.microsoft.com/office/drawing/2014/main" id="{8A03B225-AD44-7BB7-043D-373898E805BE}"/>
              </a:ext>
            </a:extLst>
          </p:cNvPr>
          <p:cNvCxnSpPr>
            <a:cxnSpLocks/>
            <a:stCxn id="123" idx="3"/>
            <a:endCxn id="127" idx="1"/>
          </p:cNvCxnSpPr>
          <p:nvPr/>
        </p:nvCxnSpPr>
        <p:spPr>
          <a:xfrm flipV="1">
            <a:off x="11897615" y="1527023"/>
            <a:ext cx="821859" cy="73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ucket Icon - Free PNG &amp; SVG 394460 - Noun Project">
            <a:extLst>
              <a:ext uri="{FF2B5EF4-FFF2-40B4-BE49-F238E27FC236}">
                <a16:creationId xmlns:a16="http://schemas.microsoft.com/office/drawing/2014/main" id="{89C45986-90E5-F2F3-9983-2DD392719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490" y="1523984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8" name="Picture 2" descr="bucket Icon - Free PNG &amp; SVG 394460 - Noun Project">
            <a:extLst>
              <a:ext uri="{FF2B5EF4-FFF2-40B4-BE49-F238E27FC236}">
                <a16:creationId xmlns:a16="http://schemas.microsoft.com/office/drawing/2014/main" id="{A9025875-71EC-65B2-42D4-EBEA45841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624" y="3935168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9" name="Picture 2" descr="bucket Icon - Free PNG &amp; SVG 394460 - Noun Project">
            <a:extLst>
              <a:ext uri="{FF2B5EF4-FFF2-40B4-BE49-F238E27FC236}">
                <a16:creationId xmlns:a16="http://schemas.microsoft.com/office/drawing/2014/main" id="{53173ECB-D95F-8047-28FF-667C52EAC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228" y="981219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0" name="Picture 2" descr="bucket Icon - Free PNG &amp; SVG 394460 - Noun Project">
            <a:extLst>
              <a:ext uri="{FF2B5EF4-FFF2-40B4-BE49-F238E27FC236}">
                <a16:creationId xmlns:a16="http://schemas.microsoft.com/office/drawing/2014/main" id="{92E90175-8460-3473-370B-2673E1847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792" y="1552783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1" name="Picture 2" descr="bucket Icon - Free PNG &amp; SVG 394460 - Noun Project">
            <a:extLst>
              <a:ext uri="{FF2B5EF4-FFF2-40B4-BE49-F238E27FC236}">
                <a16:creationId xmlns:a16="http://schemas.microsoft.com/office/drawing/2014/main" id="{FCA9FD37-D9EA-7021-3AB1-8B8EA742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792" y="2131422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2" name="Picture 2" descr="bucket Icon - Free PNG &amp; SVG 394460 - Noun Project">
            <a:extLst>
              <a:ext uri="{FF2B5EF4-FFF2-40B4-BE49-F238E27FC236}">
                <a16:creationId xmlns:a16="http://schemas.microsoft.com/office/drawing/2014/main" id="{C01EEACB-BEA0-7A9F-B1D3-ADD7C683F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8399" y="3285285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43" name="Straight Arrow Connector 47">
            <a:extLst>
              <a:ext uri="{FF2B5EF4-FFF2-40B4-BE49-F238E27FC236}">
                <a16:creationId xmlns:a16="http://schemas.microsoft.com/office/drawing/2014/main" id="{F7FFC092-1999-D8A7-3118-7D4B0DDCDDE5}"/>
              </a:ext>
            </a:extLst>
          </p:cNvPr>
          <p:cNvCxnSpPr>
            <a:cxnSpLocks/>
            <a:stCxn id="112" idx="3"/>
            <a:endCxn id="126" idx="1"/>
          </p:cNvCxnSpPr>
          <p:nvPr/>
        </p:nvCxnSpPr>
        <p:spPr>
          <a:xfrm flipV="1">
            <a:off x="11014099" y="3927088"/>
            <a:ext cx="402265" cy="71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B3A89B00-3E31-F5DA-C3A6-045B951D01FE}"/>
              </a:ext>
            </a:extLst>
          </p:cNvPr>
          <p:cNvSpPr/>
          <p:nvPr/>
        </p:nvSpPr>
        <p:spPr>
          <a:xfrm>
            <a:off x="10355019" y="3144348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pic>
        <p:nvPicPr>
          <p:cNvPr id="147" name="Graphic 146" descr="Table outline">
            <a:extLst>
              <a:ext uri="{FF2B5EF4-FFF2-40B4-BE49-F238E27FC236}">
                <a16:creationId xmlns:a16="http://schemas.microsoft.com/office/drawing/2014/main" id="{8EE10635-A8A1-31FC-B8FB-B709F786B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1027" y="3004147"/>
            <a:ext cx="481251" cy="481251"/>
          </a:xfrm>
          <a:prstGeom prst="rect">
            <a:avLst/>
          </a:prstGeom>
        </p:spPr>
      </p:pic>
      <p:pic>
        <p:nvPicPr>
          <p:cNvPr id="148" name="Picture 2" descr="bucket Icon - Free PNG &amp; SVG 394460 - Noun Project">
            <a:extLst>
              <a:ext uri="{FF2B5EF4-FFF2-40B4-BE49-F238E27FC236}">
                <a16:creationId xmlns:a16="http://schemas.microsoft.com/office/drawing/2014/main" id="{59549BAD-EAB2-FB1C-BC65-6D6D26295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287" y="3260053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49" name="Straight Arrow Connector 47">
            <a:extLst>
              <a:ext uri="{FF2B5EF4-FFF2-40B4-BE49-F238E27FC236}">
                <a16:creationId xmlns:a16="http://schemas.microsoft.com/office/drawing/2014/main" id="{B609AFB6-A1F0-6A71-F044-5E436F24EBFD}"/>
              </a:ext>
            </a:extLst>
          </p:cNvPr>
          <p:cNvCxnSpPr>
            <a:cxnSpLocks/>
            <a:stCxn id="146" idx="3"/>
            <a:endCxn id="147" idx="1"/>
          </p:cNvCxnSpPr>
          <p:nvPr/>
        </p:nvCxnSpPr>
        <p:spPr>
          <a:xfrm flipV="1">
            <a:off x="11014097" y="3244771"/>
            <a:ext cx="416928" cy="2652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47">
            <a:extLst>
              <a:ext uri="{FF2B5EF4-FFF2-40B4-BE49-F238E27FC236}">
                <a16:creationId xmlns:a16="http://schemas.microsoft.com/office/drawing/2014/main" id="{AB9938AF-C7EE-FCC7-4708-71809ECEB933}"/>
              </a:ext>
            </a:extLst>
          </p:cNvPr>
          <p:cNvCxnSpPr>
            <a:cxnSpLocks/>
            <a:stCxn id="40" idx="1"/>
            <a:endCxn id="146" idx="1"/>
          </p:cNvCxnSpPr>
          <p:nvPr/>
        </p:nvCxnSpPr>
        <p:spPr>
          <a:xfrm flipV="1">
            <a:off x="3004443" y="3247425"/>
            <a:ext cx="7350576" cy="675571"/>
          </a:xfrm>
          <a:prstGeom prst="curvedConnector3">
            <a:avLst>
              <a:gd name="adj1" fmla="val 4844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0736974-5FE1-0B60-A5BC-BEA488F919B5}"/>
              </a:ext>
            </a:extLst>
          </p:cNvPr>
          <p:cNvSpPr txBox="1"/>
          <p:nvPr/>
        </p:nvSpPr>
        <p:spPr>
          <a:xfrm>
            <a:off x="11365583" y="2935070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raw_transaction_t</a:t>
            </a:r>
            <a:endParaRPr lang="de-DE" sz="7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4FA435F-1F8B-488D-7272-ECA552DC3411}"/>
              </a:ext>
            </a:extLst>
          </p:cNvPr>
          <p:cNvSpPr txBox="1"/>
          <p:nvPr/>
        </p:nvSpPr>
        <p:spPr>
          <a:xfrm>
            <a:off x="11240374" y="3607852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raw_transaction_flagged_t</a:t>
            </a:r>
            <a:endParaRPr lang="de-DE" sz="7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7094D71-D474-35A0-3CEC-E9B9B3EA0B20}"/>
              </a:ext>
            </a:extLst>
          </p:cNvPr>
          <p:cNvSpPr txBox="1"/>
          <p:nvPr/>
        </p:nvSpPr>
        <p:spPr>
          <a:xfrm>
            <a:off x="11269575" y="1213562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raw_cardholder_t</a:t>
            </a:r>
            <a:endParaRPr lang="de-DE" sz="7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DD7A7EC-294A-D901-6B89-06A0802F2D01}"/>
              </a:ext>
            </a:extLst>
          </p:cNvPr>
          <p:cNvSpPr txBox="1"/>
          <p:nvPr/>
        </p:nvSpPr>
        <p:spPr>
          <a:xfrm>
            <a:off x="13990362" y="656407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cur_person_t</a:t>
            </a:r>
            <a:endParaRPr lang="de-DE" sz="7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A4087B3-869A-D63F-9C51-3B5095E8F9D0}"/>
              </a:ext>
            </a:extLst>
          </p:cNvPr>
          <p:cNvSpPr txBox="1"/>
          <p:nvPr/>
        </p:nvSpPr>
        <p:spPr>
          <a:xfrm>
            <a:off x="13973321" y="1232932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cur_address_t</a:t>
            </a:r>
            <a:endParaRPr lang="de-DE" sz="7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95BE86C-C418-081F-C8D9-E32169C19734}"/>
              </a:ext>
            </a:extLst>
          </p:cNvPr>
          <p:cNvSpPr txBox="1"/>
          <p:nvPr/>
        </p:nvSpPr>
        <p:spPr>
          <a:xfrm>
            <a:off x="13960792" y="1824331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cur_card_t</a:t>
            </a:r>
            <a:endParaRPr lang="de-DE" sz="700" dirty="0"/>
          </a:p>
        </p:txBody>
      </p:sp>
      <p:cxnSp>
        <p:nvCxnSpPr>
          <p:cNvPr id="161" name="Straight Arrow Connector 47">
            <a:extLst>
              <a:ext uri="{FF2B5EF4-FFF2-40B4-BE49-F238E27FC236}">
                <a16:creationId xmlns:a16="http://schemas.microsoft.com/office/drawing/2014/main" id="{B91AA7E6-5D6A-83FD-575F-8602468A4ED4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 flipV="1">
            <a:off x="13378550" y="951805"/>
            <a:ext cx="611812" cy="57521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47">
            <a:extLst>
              <a:ext uri="{FF2B5EF4-FFF2-40B4-BE49-F238E27FC236}">
                <a16:creationId xmlns:a16="http://schemas.microsoft.com/office/drawing/2014/main" id="{F9322FC9-6144-DF39-F993-9D758FB87BF5}"/>
              </a:ext>
            </a:extLst>
          </p:cNvPr>
          <p:cNvCxnSpPr>
            <a:cxnSpLocks/>
            <a:stCxn id="127" idx="3"/>
            <a:endCxn id="130" idx="1"/>
          </p:cNvCxnSpPr>
          <p:nvPr/>
        </p:nvCxnSpPr>
        <p:spPr>
          <a:xfrm>
            <a:off x="13378552" y="1527023"/>
            <a:ext cx="611811" cy="3423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47">
            <a:extLst>
              <a:ext uri="{FF2B5EF4-FFF2-40B4-BE49-F238E27FC236}">
                <a16:creationId xmlns:a16="http://schemas.microsoft.com/office/drawing/2014/main" id="{3C100E37-84D4-1A2B-614A-50E1327D689E}"/>
              </a:ext>
            </a:extLst>
          </p:cNvPr>
          <p:cNvCxnSpPr>
            <a:cxnSpLocks/>
            <a:stCxn id="127" idx="3"/>
          </p:cNvCxnSpPr>
          <p:nvPr/>
        </p:nvCxnSpPr>
        <p:spPr>
          <a:xfrm>
            <a:off x="13378552" y="1527023"/>
            <a:ext cx="611811" cy="58636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Graphic 169" descr="Table outline">
            <a:extLst>
              <a:ext uri="{FF2B5EF4-FFF2-40B4-BE49-F238E27FC236}">
                <a16:creationId xmlns:a16="http://schemas.microsoft.com/office/drawing/2014/main" id="{8B18E059-E208-7C31-208F-A71FB7E3E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2164" y="5220152"/>
            <a:ext cx="481251" cy="481251"/>
          </a:xfrm>
          <a:prstGeom prst="rect">
            <a:avLst/>
          </a:prstGeom>
        </p:spPr>
      </p:pic>
      <p:pic>
        <p:nvPicPr>
          <p:cNvPr id="171" name="Picture 2" descr="bucket Icon - Free PNG &amp; SVG 394460 - Noun Project">
            <a:extLst>
              <a:ext uri="{FF2B5EF4-FFF2-40B4-BE49-F238E27FC236}">
                <a16:creationId xmlns:a16="http://schemas.microsoft.com/office/drawing/2014/main" id="{634862D5-D282-966B-2D23-1347F27D6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3429" y="5498365"/>
            <a:ext cx="198421" cy="1984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EA4A8589-632D-084B-664B-3A85156269F4}"/>
              </a:ext>
            </a:extLst>
          </p:cNvPr>
          <p:cNvSpPr/>
          <p:nvPr/>
        </p:nvSpPr>
        <p:spPr>
          <a:xfrm>
            <a:off x="10392101" y="5359400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cxnSp>
        <p:nvCxnSpPr>
          <p:cNvPr id="173" name="Straight Arrow Connector 47">
            <a:extLst>
              <a:ext uri="{FF2B5EF4-FFF2-40B4-BE49-F238E27FC236}">
                <a16:creationId xmlns:a16="http://schemas.microsoft.com/office/drawing/2014/main" id="{5E95E87A-C016-C64D-A1F4-CD2A84C18431}"/>
              </a:ext>
            </a:extLst>
          </p:cNvPr>
          <p:cNvCxnSpPr>
            <a:cxnSpLocks/>
            <a:stCxn id="70" idx="1"/>
            <a:endCxn id="172" idx="1"/>
          </p:cNvCxnSpPr>
          <p:nvPr/>
        </p:nvCxnSpPr>
        <p:spPr>
          <a:xfrm flipV="1">
            <a:off x="5116128" y="5462475"/>
            <a:ext cx="5275973" cy="99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47">
            <a:extLst>
              <a:ext uri="{FF2B5EF4-FFF2-40B4-BE49-F238E27FC236}">
                <a16:creationId xmlns:a16="http://schemas.microsoft.com/office/drawing/2014/main" id="{986D94C1-BB39-5876-726E-F9B050A3CBD0}"/>
              </a:ext>
            </a:extLst>
          </p:cNvPr>
          <p:cNvCxnSpPr>
            <a:cxnSpLocks/>
            <a:stCxn id="172" idx="3"/>
            <a:endCxn id="170" idx="1"/>
          </p:cNvCxnSpPr>
          <p:nvPr/>
        </p:nvCxnSpPr>
        <p:spPr>
          <a:xfrm flipV="1">
            <a:off x="11051179" y="5460778"/>
            <a:ext cx="340985" cy="16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66898968-926B-01B0-5F2E-49D929692280}"/>
              </a:ext>
            </a:extLst>
          </p:cNvPr>
          <p:cNvSpPr txBox="1"/>
          <p:nvPr/>
        </p:nvSpPr>
        <p:spPr>
          <a:xfrm>
            <a:off x="11287786" y="4535765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raw_merchant_t</a:t>
            </a:r>
            <a:endParaRPr lang="de-DE" sz="7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D28B5B-2AD5-1712-0479-4593A61B5144}"/>
              </a:ext>
            </a:extLst>
          </p:cNvPr>
          <p:cNvSpPr txBox="1"/>
          <p:nvPr/>
        </p:nvSpPr>
        <p:spPr>
          <a:xfrm>
            <a:off x="13855107" y="2927231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cur_transaction_with_merchant_t</a:t>
            </a:r>
            <a:endParaRPr lang="de-DE" sz="700" dirty="0"/>
          </a:p>
        </p:txBody>
      </p:sp>
      <p:cxnSp>
        <p:nvCxnSpPr>
          <p:cNvPr id="185" name="Straight Arrow Connector 47">
            <a:extLst>
              <a:ext uri="{FF2B5EF4-FFF2-40B4-BE49-F238E27FC236}">
                <a16:creationId xmlns:a16="http://schemas.microsoft.com/office/drawing/2014/main" id="{F55418AB-2B15-EFE6-8F16-2D3DBE0319EF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11933289" y="3239529"/>
            <a:ext cx="781488" cy="6122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39FA3964-0B6A-6660-7DFD-6085B94BCB91}"/>
              </a:ext>
            </a:extLst>
          </p:cNvPr>
          <p:cNvSpPr/>
          <p:nvPr/>
        </p:nvSpPr>
        <p:spPr>
          <a:xfrm>
            <a:off x="12714777" y="314257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cxnSp>
        <p:nvCxnSpPr>
          <p:cNvPr id="188" name="Straight Arrow Connector 47">
            <a:extLst>
              <a:ext uri="{FF2B5EF4-FFF2-40B4-BE49-F238E27FC236}">
                <a16:creationId xmlns:a16="http://schemas.microsoft.com/office/drawing/2014/main" id="{312CBB0E-3851-77C2-3135-C60966BC4476}"/>
              </a:ext>
            </a:extLst>
          </p:cNvPr>
          <p:cNvCxnSpPr>
            <a:cxnSpLocks/>
            <a:stCxn id="186" idx="3"/>
            <a:endCxn id="131" idx="1"/>
          </p:cNvCxnSpPr>
          <p:nvPr/>
        </p:nvCxnSpPr>
        <p:spPr>
          <a:xfrm>
            <a:off x="13373857" y="3245653"/>
            <a:ext cx="833277" cy="204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47">
            <a:extLst>
              <a:ext uri="{FF2B5EF4-FFF2-40B4-BE49-F238E27FC236}">
                <a16:creationId xmlns:a16="http://schemas.microsoft.com/office/drawing/2014/main" id="{E0FA4B54-22F9-75DA-34E8-235CFF928952}"/>
              </a:ext>
            </a:extLst>
          </p:cNvPr>
          <p:cNvCxnSpPr>
            <a:cxnSpLocks/>
            <a:stCxn id="170" idx="3"/>
            <a:endCxn id="186" idx="1"/>
          </p:cNvCxnSpPr>
          <p:nvPr/>
        </p:nvCxnSpPr>
        <p:spPr>
          <a:xfrm flipV="1">
            <a:off x="11873415" y="3245651"/>
            <a:ext cx="841362" cy="221512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Rounded Rectangle 1029">
            <a:extLst>
              <a:ext uri="{FF2B5EF4-FFF2-40B4-BE49-F238E27FC236}">
                <a16:creationId xmlns:a16="http://schemas.microsoft.com/office/drawing/2014/main" id="{3C2726B0-4F0E-7ACF-CE17-87463C371A91}"/>
              </a:ext>
            </a:extLst>
          </p:cNvPr>
          <p:cNvSpPr/>
          <p:nvPr/>
        </p:nvSpPr>
        <p:spPr>
          <a:xfrm>
            <a:off x="15548404" y="3144620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cxnSp>
        <p:nvCxnSpPr>
          <p:cNvPr id="1031" name="Straight Arrow Connector 47">
            <a:extLst>
              <a:ext uri="{FF2B5EF4-FFF2-40B4-BE49-F238E27FC236}">
                <a16:creationId xmlns:a16="http://schemas.microsoft.com/office/drawing/2014/main" id="{26118814-3D58-A812-1B02-F891C3E196F5}"/>
              </a:ext>
            </a:extLst>
          </p:cNvPr>
          <p:cNvCxnSpPr>
            <a:cxnSpLocks/>
            <a:stCxn id="131" idx="3"/>
            <a:endCxn id="1030" idx="1"/>
          </p:cNvCxnSpPr>
          <p:nvPr/>
        </p:nvCxnSpPr>
        <p:spPr>
          <a:xfrm flipV="1">
            <a:off x="14688385" y="3247697"/>
            <a:ext cx="860021" cy="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47">
            <a:extLst>
              <a:ext uri="{FF2B5EF4-FFF2-40B4-BE49-F238E27FC236}">
                <a16:creationId xmlns:a16="http://schemas.microsoft.com/office/drawing/2014/main" id="{0AF059DF-6571-AE66-7B6A-2769A95D9785}"/>
              </a:ext>
            </a:extLst>
          </p:cNvPr>
          <p:cNvCxnSpPr>
            <a:cxnSpLocks/>
            <a:stCxn id="128" idx="3"/>
            <a:endCxn id="1030" idx="1"/>
          </p:cNvCxnSpPr>
          <p:nvPr/>
        </p:nvCxnSpPr>
        <p:spPr>
          <a:xfrm>
            <a:off x="14471615" y="951805"/>
            <a:ext cx="1076791" cy="2295890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7" name="Graphic 1036" descr="Table outline">
            <a:extLst>
              <a:ext uri="{FF2B5EF4-FFF2-40B4-BE49-F238E27FC236}">
                <a16:creationId xmlns:a16="http://schemas.microsoft.com/office/drawing/2014/main" id="{296A9A64-5926-784C-600D-809A9788B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5641" y="3009166"/>
            <a:ext cx="481251" cy="481251"/>
          </a:xfrm>
          <a:prstGeom prst="rect">
            <a:avLst/>
          </a:prstGeom>
        </p:spPr>
      </p:pic>
      <p:pic>
        <p:nvPicPr>
          <p:cNvPr id="1038" name="Picture 2" descr="bucket Icon - Free PNG &amp; SVG 394460 - Noun Project">
            <a:extLst>
              <a:ext uri="{FF2B5EF4-FFF2-40B4-BE49-F238E27FC236}">
                <a16:creationId xmlns:a16="http://schemas.microsoft.com/office/drawing/2014/main" id="{0DDC7033-B163-8BC8-6586-F5E51B0A4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6906" y="3287379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039" name="Straight Arrow Connector 47">
            <a:extLst>
              <a:ext uri="{FF2B5EF4-FFF2-40B4-BE49-F238E27FC236}">
                <a16:creationId xmlns:a16="http://schemas.microsoft.com/office/drawing/2014/main" id="{31B5550A-5B66-4AE1-78C7-D56896157FFD}"/>
              </a:ext>
            </a:extLst>
          </p:cNvPr>
          <p:cNvCxnSpPr>
            <a:cxnSpLocks/>
            <a:stCxn id="1030" idx="3"/>
            <a:endCxn id="1037" idx="1"/>
          </p:cNvCxnSpPr>
          <p:nvPr/>
        </p:nvCxnSpPr>
        <p:spPr>
          <a:xfrm>
            <a:off x="16207484" y="3247697"/>
            <a:ext cx="408157" cy="209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ounded Rectangle 1098">
            <a:extLst>
              <a:ext uri="{FF2B5EF4-FFF2-40B4-BE49-F238E27FC236}">
                <a16:creationId xmlns:a16="http://schemas.microsoft.com/office/drawing/2014/main" id="{3645188D-9692-7641-AD93-5897492D023D}"/>
              </a:ext>
            </a:extLst>
          </p:cNvPr>
          <p:cNvSpPr/>
          <p:nvPr/>
        </p:nvSpPr>
        <p:spPr>
          <a:xfrm>
            <a:off x="1810646" y="2744474"/>
            <a:ext cx="15774704" cy="209608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ounded Rectangle 1099">
            <a:extLst>
              <a:ext uri="{FF2B5EF4-FFF2-40B4-BE49-F238E27FC236}">
                <a16:creationId xmlns:a16="http://schemas.microsoft.com/office/drawing/2014/main" id="{E71F5534-BA0C-477B-2CB2-0DA8FD89E141}"/>
              </a:ext>
            </a:extLst>
          </p:cNvPr>
          <p:cNvSpPr/>
          <p:nvPr/>
        </p:nvSpPr>
        <p:spPr>
          <a:xfrm>
            <a:off x="2084390" y="2645128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Payment</a:t>
            </a:r>
          </a:p>
        </p:txBody>
      </p:sp>
      <p:sp>
        <p:nvSpPr>
          <p:cNvPr id="1101" name="Rounded Rectangle 1100">
            <a:extLst>
              <a:ext uri="{FF2B5EF4-FFF2-40B4-BE49-F238E27FC236}">
                <a16:creationId xmlns:a16="http://schemas.microsoft.com/office/drawing/2014/main" id="{254658ED-8B09-0EC7-D836-F4DC19735C25}"/>
              </a:ext>
            </a:extLst>
          </p:cNvPr>
          <p:cNvSpPr/>
          <p:nvPr/>
        </p:nvSpPr>
        <p:spPr>
          <a:xfrm>
            <a:off x="1810646" y="5135002"/>
            <a:ext cx="10872586" cy="101713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284EE469-83A5-67BF-3F89-4EDC5FD962C6}"/>
              </a:ext>
            </a:extLst>
          </p:cNvPr>
          <p:cNvSpPr/>
          <p:nvPr/>
        </p:nvSpPr>
        <p:spPr>
          <a:xfrm>
            <a:off x="2121472" y="5025318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Reference Data</a:t>
            </a:r>
          </a:p>
        </p:txBody>
      </p:sp>
      <p:pic>
        <p:nvPicPr>
          <p:cNvPr id="1109" name="Graphic 1108" descr="Table outline">
            <a:extLst>
              <a:ext uri="{FF2B5EF4-FFF2-40B4-BE49-F238E27FC236}">
                <a16:creationId xmlns:a16="http://schemas.microsoft.com/office/drawing/2014/main" id="{8EEC8C6C-57BF-99E9-EFC5-3B0E56D35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6647" y="2052787"/>
            <a:ext cx="368444" cy="368444"/>
          </a:xfrm>
          <a:prstGeom prst="rect">
            <a:avLst/>
          </a:prstGeom>
        </p:spPr>
      </p:pic>
      <p:pic>
        <p:nvPicPr>
          <p:cNvPr id="1110" name="Graphic 1109" descr="Table outline">
            <a:extLst>
              <a:ext uri="{FF2B5EF4-FFF2-40B4-BE49-F238E27FC236}">
                <a16:creationId xmlns:a16="http://schemas.microsoft.com/office/drawing/2014/main" id="{3D9C4D69-E18C-32F7-A6A4-8D8CE9DF5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36332" y="2052787"/>
            <a:ext cx="368444" cy="368444"/>
          </a:xfrm>
          <a:prstGeom prst="rect">
            <a:avLst/>
          </a:prstGeom>
        </p:spPr>
      </p:pic>
      <p:pic>
        <p:nvPicPr>
          <p:cNvPr id="1112" name="Graphic 1111" descr="Table outline">
            <a:extLst>
              <a:ext uri="{FF2B5EF4-FFF2-40B4-BE49-F238E27FC236}">
                <a16:creationId xmlns:a16="http://schemas.microsoft.com/office/drawing/2014/main" id="{A5EA3D44-EB91-D816-ED81-A2400CC32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3208" y="2052787"/>
            <a:ext cx="368444" cy="368444"/>
          </a:xfrm>
          <a:prstGeom prst="rect">
            <a:avLst/>
          </a:prstGeom>
        </p:spPr>
      </p:pic>
      <p:pic>
        <p:nvPicPr>
          <p:cNvPr id="1113" name="Graphic 1112" descr="Table outline">
            <a:extLst>
              <a:ext uri="{FF2B5EF4-FFF2-40B4-BE49-F238E27FC236}">
                <a16:creationId xmlns:a16="http://schemas.microsoft.com/office/drawing/2014/main" id="{3330B5E5-CE0C-2727-6DD9-F8D0719A71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922" y="2052787"/>
            <a:ext cx="368444" cy="368444"/>
          </a:xfrm>
          <a:prstGeom prst="rect">
            <a:avLst/>
          </a:prstGeom>
        </p:spPr>
      </p:pic>
      <p:sp>
        <p:nvSpPr>
          <p:cNvPr id="1114" name="TextBox 1113">
            <a:extLst>
              <a:ext uri="{FF2B5EF4-FFF2-40B4-BE49-F238E27FC236}">
                <a16:creationId xmlns:a16="http://schemas.microsoft.com/office/drawing/2014/main" id="{AAA09D3E-4B16-3DAE-643A-2D2C04EB5449}"/>
              </a:ext>
            </a:extLst>
          </p:cNvPr>
          <p:cNvSpPr txBox="1"/>
          <p:nvPr/>
        </p:nvSpPr>
        <p:spPr>
          <a:xfrm>
            <a:off x="2149677" y="1997311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person</a:t>
            </a:r>
            <a:endParaRPr lang="de-DE" sz="700" dirty="0"/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961BFFFA-C2D4-FE6C-1E04-28221AE4DCDE}"/>
              </a:ext>
            </a:extLst>
          </p:cNvPr>
          <p:cNvSpPr txBox="1"/>
          <p:nvPr/>
        </p:nvSpPr>
        <p:spPr>
          <a:xfrm>
            <a:off x="2474996" y="2004300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address</a:t>
            </a:r>
            <a:endParaRPr lang="de-DE" sz="700" dirty="0"/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0941FCB0-C3A6-70F5-955B-7A52BCC0DEB0}"/>
              </a:ext>
            </a:extLst>
          </p:cNvPr>
          <p:cNvSpPr txBox="1"/>
          <p:nvPr/>
        </p:nvSpPr>
        <p:spPr>
          <a:xfrm>
            <a:off x="2822792" y="2004861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country</a:t>
            </a:r>
            <a:endParaRPr lang="de-DE" sz="700" dirty="0"/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DF465787-74EF-5D7F-97CA-C86C5D192C6C}"/>
              </a:ext>
            </a:extLst>
          </p:cNvPr>
          <p:cNvSpPr txBox="1"/>
          <p:nvPr/>
        </p:nvSpPr>
        <p:spPr>
          <a:xfrm>
            <a:off x="3208570" y="1998800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card</a:t>
            </a:r>
            <a:endParaRPr lang="de-DE" sz="700" dirty="0"/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C785EC6A-D258-6268-A1F9-C35F7479E13D}"/>
              </a:ext>
            </a:extLst>
          </p:cNvPr>
          <p:cNvSpPr txBox="1"/>
          <p:nvPr/>
        </p:nvSpPr>
        <p:spPr>
          <a:xfrm>
            <a:off x="13675750" y="53083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9AD183CD-9C2F-04A4-598D-5A89424BEABA}"/>
              </a:ext>
            </a:extLst>
          </p:cNvPr>
          <p:cNvSpPr/>
          <p:nvPr/>
        </p:nvSpPr>
        <p:spPr>
          <a:xfrm>
            <a:off x="2209975" y="5347947"/>
            <a:ext cx="676093" cy="253790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700" b="1" dirty="0"/>
              <a:t>RDBMS</a:t>
            </a:r>
            <a:endParaRPr lang="en-GB" sz="800" b="1" dirty="0"/>
          </a:p>
        </p:txBody>
      </p:sp>
      <p:pic>
        <p:nvPicPr>
          <p:cNvPr id="10" name="Graphic 9" descr="Table outline">
            <a:extLst>
              <a:ext uri="{FF2B5EF4-FFF2-40B4-BE49-F238E27FC236}">
                <a16:creationId xmlns:a16="http://schemas.microsoft.com/office/drawing/2014/main" id="{52E05881-CBAE-6AC2-5430-EC87EE5B5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8053" y="5660742"/>
            <a:ext cx="334949" cy="334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D0EFBC-1C39-56C0-BEE5-DB4457616946}"/>
              </a:ext>
            </a:extLst>
          </p:cNvPr>
          <p:cNvSpPr txBox="1"/>
          <p:nvPr/>
        </p:nvSpPr>
        <p:spPr>
          <a:xfrm>
            <a:off x="2368948" y="5607357"/>
            <a:ext cx="337852" cy="1791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merchant</a:t>
            </a:r>
            <a:endParaRPr lang="de-DE" sz="7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F2F482E-EFC9-9CA2-4EFA-DD95A72E1522}"/>
              </a:ext>
            </a:extLst>
          </p:cNvPr>
          <p:cNvSpPr/>
          <p:nvPr/>
        </p:nvSpPr>
        <p:spPr>
          <a:xfrm>
            <a:off x="3196847" y="5369711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CDC</a:t>
            </a:r>
          </a:p>
        </p:txBody>
      </p:sp>
      <p:cxnSp>
        <p:nvCxnSpPr>
          <p:cNvPr id="29" name="Straight Arrow Connector 47">
            <a:extLst>
              <a:ext uri="{FF2B5EF4-FFF2-40B4-BE49-F238E27FC236}">
                <a16:creationId xmlns:a16="http://schemas.microsoft.com/office/drawing/2014/main" id="{4E4BB77A-8075-0F5A-115D-D90DD6AE26DE}"/>
              </a:ext>
            </a:extLst>
          </p:cNvPr>
          <p:cNvCxnSpPr>
            <a:cxnSpLocks/>
            <a:stCxn id="2" idx="4"/>
            <a:endCxn id="24" idx="1"/>
          </p:cNvCxnSpPr>
          <p:nvPr/>
        </p:nvCxnSpPr>
        <p:spPr>
          <a:xfrm flipV="1">
            <a:off x="2886068" y="5472786"/>
            <a:ext cx="310779" cy="205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47">
            <a:extLst>
              <a:ext uri="{FF2B5EF4-FFF2-40B4-BE49-F238E27FC236}">
                <a16:creationId xmlns:a16="http://schemas.microsoft.com/office/drawing/2014/main" id="{13B0A16B-B262-AA8E-4E2B-FD6F03477633}"/>
              </a:ext>
            </a:extLst>
          </p:cNvPr>
          <p:cNvCxnSpPr>
            <a:cxnSpLocks/>
            <a:stCxn id="24" idx="3"/>
            <a:endCxn id="70" idx="3"/>
          </p:cNvCxnSpPr>
          <p:nvPr/>
        </p:nvCxnSpPr>
        <p:spPr>
          <a:xfrm flipV="1">
            <a:off x="3855925" y="5472472"/>
            <a:ext cx="344870" cy="31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47">
            <a:extLst>
              <a:ext uri="{FF2B5EF4-FFF2-40B4-BE49-F238E27FC236}">
                <a16:creationId xmlns:a16="http://schemas.microsoft.com/office/drawing/2014/main" id="{A7892B74-E4D1-57AD-47D2-E32A3D4E5CC7}"/>
              </a:ext>
            </a:extLst>
          </p:cNvPr>
          <p:cNvCxnSpPr>
            <a:cxnSpLocks/>
            <a:stCxn id="8" idx="1"/>
            <a:endCxn id="68" idx="1"/>
          </p:cNvCxnSpPr>
          <p:nvPr/>
        </p:nvCxnSpPr>
        <p:spPr>
          <a:xfrm>
            <a:off x="4378923" y="1548934"/>
            <a:ext cx="1385736" cy="237936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82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CC92-3456-AEB5-0C0D-290279BC9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606360-962C-D605-0541-2D7BBD93B6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9786C1-9477-F057-176B-977CA6E21751}"/>
              </a:ext>
            </a:extLst>
          </p:cNvPr>
          <p:cNvSpPr/>
          <p:nvPr/>
        </p:nvSpPr>
        <p:spPr>
          <a:xfrm>
            <a:off x="1810646" y="559203"/>
            <a:ext cx="13089105" cy="186140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6AD95D-937D-BAF1-5D94-9E2CEE6225E1}"/>
              </a:ext>
            </a:extLst>
          </p:cNvPr>
          <p:cNvSpPr/>
          <p:nvPr/>
        </p:nvSpPr>
        <p:spPr>
          <a:xfrm>
            <a:off x="2174684" y="465346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Customer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0D1D55-EB7C-A739-6461-DB4145AFE3BA}"/>
              </a:ext>
            </a:extLst>
          </p:cNvPr>
          <p:cNvSpPr/>
          <p:nvPr/>
        </p:nvSpPr>
        <p:spPr>
          <a:xfrm>
            <a:off x="202830" y="3781528"/>
            <a:ext cx="657895" cy="28293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Simulator</a:t>
            </a:r>
            <a:endParaRPr lang="en-US" sz="800" b="1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4D2403-8F8E-09CF-5974-5859AE25B55D}"/>
              </a:ext>
            </a:extLst>
          </p:cNvPr>
          <p:cNvSpPr/>
          <p:nvPr/>
        </p:nvSpPr>
        <p:spPr>
          <a:xfrm>
            <a:off x="2248660" y="1190492"/>
            <a:ext cx="835470" cy="23881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Cardholder App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B61AAD07-E312-2517-77F8-815E3D712B52}"/>
              </a:ext>
            </a:extLst>
          </p:cNvPr>
          <p:cNvSpPr/>
          <p:nvPr/>
        </p:nvSpPr>
        <p:spPr>
          <a:xfrm rot="5400000">
            <a:off x="3765922" y="1091267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5A00D2"/>
              </a:solidFill>
            </a:endParaRPr>
          </a:p>
        </p:txBody>
      </p:sp>
      <p:cxnSp>
        <p:nvCxnSpPr>
          <p:cNvPr id="9" name="Straight Arrow Connector 47">
            <a:extLst>
              <a:ext uri="{FF2B5EF4-FFF2-40B4-BE49-F238E27FC236}">
                <a16:creationId xmlns:a16="http://schemas.microsoft.com/office/drawing/2014/main" id="{F5D99EE7-4580-3C91-5FF5-75F75332AB45}"/>
              </a:ext>
            </a:extLst>
          </p:cNvPr>
          <p:cNvCxnSpPr>
            <a:cxnSpLocks/>
            <a:stCxn id="6" idx="3"/>
            <a:endCxn id="32" idx="0"/>
          </p:cNvCxnSpPr>
          <p:nvPr/>
        </p:nvCxnSpPr>
        <p:spPr>
          <a:xfrm flipV="1">
            <a:off x="860725" y="1306595"/>
            <a:ext cx="849626" cy="261640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5FA188-7AAC-A440-C504-868A47773860}"/>
              </a:ext>
            </a:extLst>
          </p:cNvPr>
          <p:cNvSpPr/>
          <p:nvPr/>
        </p:nvSpPr>
        <p:spPr>
          <a:xfrm>
            <a:off x="3597069" y="1461724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D001A8-FE4A-CCD3-52C8-24787D2188EC}"/>
              </a:ext>
            </a:extLst>
          </p:cNvPr>
          <p:cNvSpPr/>
          <p:nvPr/>
        </p:nvSpPr>
        <p:spPr>
          <a:xfrm>
            <a:off x="3854565" y="1461724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AB673-7EFE-2FD8-867E-1E1A027C87FD}"/>
              </a:ext>
            </a:extLst>
          </p:cNvPr>
          <p:cNvSpPr txBox="1"/>
          <p:nvPr/>
        </p:nvSpPr>
        <p:spPr>
          <a:xfrm>
            <a:off x="4477596" y="16983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29AB2726-78CB-19A6-4A45-C50640A92781}"/>
              </a:ext>
            </a:extLst>
          </p:cNvPr>
          <p:cNvSpPr/>
          <p:nvPr/>
        </p:nvSpPr>
        <p:spPr>
          <a:xfrm>
            <a:off x="2328352" y="1752819"/>
            <a:ext cx="676093" cy="253790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700" b="1" dirty="0"/>
              <a:t>RDBMS</a:t>
            </a:r>
            <a:endParaRPr lang="en-GB" sz="800" b="1" dirty="0"/>
          </a:p>
        </p:txBody>
      </p:sp>
      <p:cxnSp>
        <p:nvCxnSpPr>
          <p:cNvPr id="20" name="Straight Arrow Connector 47">
            <a:extLst>
              <a:ext uri="{FF2B5EF4-FFF2-40B4-BE49-F238E27FC236}">
                <a16:creationId xmlns:a16="http://schemas.microsoft.com/office/drawing/2014/main" id="{490B6275-2A77-7EB5-7489-D2347912FEC3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16200000" flipH="1">
            <a:off x="2504641" y="1591060"/>
            <a:ext cx="323513" cy="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47">
            <a:extLst>
              <a:ext uri="{FF2B5EF4-FFF2-40B4-BE49-F238E27FC236}">
                <a16:creationId xmlns:a16="http://schemas.microsoft.com/office/drawing/2014/main" id="{EE3353DB-124E-A026-D344-795DCE4B5F29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rot="16200000" flipH="1">
            <a:off x="3005178" y="1090522"/>
            <a:ext cx="119628" cy="797195"/>
          </a:xfrm>
          <a:prstGeom prst="curvedConnector2">
            <a:avLst/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3540170-F0F0-384A-20E5-48F6731C461B}"/>
              </a:ext>
            </a:extLst>
          </p:cNvPr>
          <p:cNvSpPr/>
          <p:nvPr/>
        </p:nvSpPr>
        <p:spPr>
          <a:xfrm rot="16200000">
            <a:off x="1514050" y="1196422"/>
            <a:ext cx="612947" cy="22034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API</a:t>
            </a:r>
            <a:endParaRPr lang="en-US" sz="800" b="1" dirty="0"/>
          </a:p>
        </p:txBody>
      </p:sp>
      <p:cxnSp>
        <p:nvCxnSpPr>
          <p:cNvPr id="36" name="Straight Arrow Connector 47">
            <a:extLst>
              <a:ext uri="{FF2B5EF4-FFF2-40B4-BE49-F238E27FC236}">
                <a16:creationId xmlns:a16="http://schemas.microsoft.com/office/drawing/2014/main" id="{90B70F3B-44C6-FE2D-B1E1-DF295B042540}"/>
              </a:ext>
            </a:extLst>
          </p:cNvPr>
          <p:cNvCxnSpPr>
            <a:cxnSpLocks/>
            <a:stCxn id="32" idx="2"/>
            <a:endCxn id="7" idx="1"/>
          </p:cNvCxnSpPr>
          <p:nvPr/>
        </p:nvCxnSpPr>
        <p:spPr>
          <a:xfrm>
            <a:off x="1930697" y="1306595"/>
            <a:ext cx="317963" cy="330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n 39">
            <a:extLst>
              <a:ext uri="{FF2B5EF4-FFF2-40B4-BE49-F238E27FC236}">
                <a16:creationId xmlns:a16="http://schemas.microsoft.com/office/drawing/2014/main" id="{9CA1F7C0-C596-3A50-BE3F-6AB27399626D}"/>
              </a:ext>
            </a:extLst>
          </p:cNvPr>
          <p:cNvSpPr/>
          <p:nvPr/>
        </p:nvSpPr>
        <p:spPr>
          <a:xfrm rot="5400000">
            <a:off x="2391444" y="3465329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63AF11E-6BBF-526F-D153-7775E6A0E420}"/>
              </a:ext>
            </a:extLst>
          </p:cNvPr>
          <p:cNvSpPr/>
          <p:nvPr/>
        </p:nvSpPr>
        <p:spPr>
          <a:xfrm>
            <a:off x="2222591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298261E-1835-166A-A5B6-4803A1CD0E56}"/>
              </a:ext>
            </a:extLst>
          </p:cNvPr>
          <p:cNvSpPr/>
          <p:nvPr/>
        </p:nvSpPr>
        <p:spPr>
          <a:xfrm>
            <a:off x="2480087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7E4E1D-EBF0-3732-ED0A-E5099048C59C}"/>
              </a:ext>
            </a:extLst>
          </p:cNvPr>
          <p:cNvSpPr txBox="1"/>
          <p:nvPr/>
        </p:nvSpPr>
        <p:spPr>
          <a:xfrm>
            <a:off x="3103118" y="40724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67E1B63-AC79-D94B-1740-E18323AD838D}"/>
              </a:ext>
            </a:extLst>
          </p:cNvPr>
          <p:cNvSpPr/>
          <p:nvPr/>
        </p:nvSpPr>
        <p:spPr>
          <a:xfrm>
            <a:off x="3412698" y="3820074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Flagger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9A3B56-A1BD-1A6C-E84E-E0B5D4F2AAEB}"/>
              </a:ext>
            </a:extLst>
          </p:cNvPr>
          <p:cNvSpPr txBox="1"/>
          <p:nvPr/>
        </p:nvSpPr>
        <p:spPr>
          <a:xfrm>
            <a:off x="3533371" y="1242091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pub.cust.cardholder.state.v1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CAC6CC-D528-C811-0C7D-7AC3A30D6692}"/>
              </a:ext>
            </a:extLst>
          </p:cNvPr>
          <p:cNvSpPr txBox="1"/>
          <p:nvPr/>
        </p:nvSpPr>
        <p:spPr>
          <a:xfrm>
            <a:off x="2052791" y="3600757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priv.pay.transaction.delta.v1</a:t>
            </a:r>
          </a:p>
        </p:txBody>
      </p:sp>
      <p:sp>
        <p:nvSpPr>
          <p:cNvPr id="47" name="Can 46">
            <a:extLst>
              <a:ext uri="{FF2B5EF4-FFF2-40B4-BE49-F238E27FC236}">
                <a16:creationId xmlns:a16="http://schemas.microsoft.com/office/drawing/2014/main" id="{0C15DF8B-4D81-6917-B1A2-6E4C25249463}"/>
              </a:ext>
            </a:extLst>
          </p:cNvPr>
          <p:cNvSpPr/>
          <p:nvPr/>
        </p:nvSpPr>
        <p:spPr>
          <a:xfrm rot="5400000">
            <a:off x="2391444" y="4067290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CDAB2C7-E8E6-5F3A-74C0-0362D6548B4B}"/>
              </a:ext>
            </a:extLst>
          </p:cNvPr>
          <p:cNvSpPr/>
          <p:nvPr/>
        </p:nvSpPr>
        <p:spPr>
          <a:xfrm>
            <a:off x="2222591" y="4437747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63AFF2B-48A8-D3CE-83A8-CC63C03EF29B}"/>
              </a:ext>
            </a:extLst>
          </p:cNvPr>
          <p:cNvSpPr/>
          <p:nvPr/>
        </p:nvSpPr>
        <p:spPr>
          <a:xfrm>
            <a:off x="2480087" y="4437747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CC1491F-C96B-50E2-B04C-A32EA91E05F2}"/>
              </a:ext>
            </a:extLst>
          </p:cNvPr>
          <p:cNvSpPr txBox="1"/>
          <p:nvPr/>
        </p:nvSpPr>
        <p:spPr>
          <a:xfrm>
            <a:off x="3103118" y="46743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C84A52-1D2F-9D76-082F-11AEAD64AAE0}"/>
              </a:ext>
            </a:extLst>
          </p:cNvPr>
          <p:cNvSpPr txBox="1"/>
          <p:nvPr/>
        </p:nvSpPr>
        <p:spPr>
          <a:xfrm>
            <a:off x="2016591" y="4205977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priv.pay.blacklist.state.v1</a:t>
            </a:r>
          </a:p>
        </p:txBody>
      </p:sp>
      <p:cxnSp>
        <p:nvCxnSpPr>
          <p:cNvPr id="52" name="Straight Arrow Connector 47">
            <a:extLst>
              <a:ext uri="{FF2B5EF4-FFF2-40B4-BE49-F238E27FC236}">
                <a16:creationId xmlns:a16="http://schemas.microsoft.com/office/drawing/2014/main" id="{BC08F210-C1C0-8FA1-14E5-EAC6B206287F}"/>
              </a:ext>
            </a:extLst>
          </p:cNvPr>
          <p:cNvCxnSpPr>
            <a:cxnSpLocks/>
            <a:stCxn id="6" idx="3"/>
            <a:endCxn id="40" idx="3"/>
          </p:cNvCxnSpPr>
          <p:nvPr/>
        </p:nvCxnSpPr>
        <p:spPr>
          <a:xfrm>
            <a:off x="860725" y="3922994"/>
            <a:ext cx="1228385" cy="12700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n 56">
            <a:extLst>
              <a:ext uri="{FF2B5EF4-FFF2-40B4-BE49-F238E27FC236}">
                <a16:creationId xmlns:a16="http://schemas.microsoft.com/office/drawing/2014/main" id="{66AD2582-8373-E448-5FC6-873A347AD9CC}"/>
              </a:ext>
            </a:extLst>
          </p:cNvPr>
          <p:cNvSpPr/>
          <p:nvPr/>
        </p:nvSpPr>
        <p:spPr>
          <a:xfrm rot="5400000">
            <a:off x="4681255" y="3465330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3C1A0AF-EA8A-6F26-BC22-236B86488DFF}"/>
              </a:ext>
            </a:extLst>
          </p:cNvPr>
          <p:cNvSpPr/>
          <p:nvPr/>
        </p:nvSpPr>
        <p:spPr>
          <a:xfrm>
            <a:off x="4512402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1C0138A-A227-150A-35A4-2EC2021AAAEB}"/>
              </a:ext>
            </a:extLst>
          </p:cNvPr>
          <p:cNvSpPr/>
          <p:nvPr/>
        </p:nvSpPr>
        <p:spPr>
          <a:xfrm>
            <a:off x="4769898" y="3835786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BBBF6D-B46B-9D6C-AF53-61DBFB92B2A5}"/>
              </a:ext>
            </a:extLst>
          </p:cNvPr>
          <p:cNvSpPr txBox="1"/>
          <p:nvPr/>
        </p:nvSpPr>
        <p:spPr>
          <a:xfrm>
            <a:off x="5392929" y="40724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299DA0-40EE-748F-46C3-D86FB8F2133A}"/>
              </a:ext>
            </a:extLst>
          </p:cNvPr>
          <p:cNvSpPr txBox="1"/>
          <p:nvPr/>
        </p:nvSpPr>
        <p:spPr>
          <a:xfrm>
            <a:off x="4097137" y="3617478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priv.pay.transaction-flagged.delta.v1</a:t>
            </a:r>
          </a:p>
        </p:txBody>
      </p:sp>
      <p:cxnSp>
        <p:nvCxnSpPr>
          <p:cNvPr id="62" name="Straight Arrow Connector 47">
            <a:extLst>
              <a:ext uri="{FF2B5EF4-FFF2-40B4-BE49-F238E27FC236}">
                <a16:creationId xmlns:a16="http://schemas.microsoft.com/office/drawing/2014/main" id="{782ABFAD-BC67-47AD-3604-EBDE7C6226E2}"/>
              </a:ext>
            </a:extLst>
          </p:cNvPr>
          <p:cNvCxnSpPr>
            <a:cxnSpLocks/>
            <a:stCxn id="40" idx="1"/>
            <a:endCxn id="44" idx="1"/>
          </p:cNvCxnSpPr>
          <p:nvPr/>
        </p:nvCxnSpPr>
        <p:spPr>
          <a:xfrm>
            <a:off x="3004445" y="3922996"/>
            <a:ext cx="408255" cy="15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47">
            <a:extLst>
              <a:ext uri="{FF2B5EF4-FFF2-40B4-BE49-F238E27FC236}">
                <a16:creationId xmlns:a16="http://schemas.microsoft.com/office/drawing/2014/main" id="{3929E785-94E8-6803-6BD9-C686B3DEC06F}"/>
              </a:ext>
            </a:extLst>
          </p:cNvPr>
          <p:cNvCxnSpPr>
            <a:cxnSpLocks/>
            <a:stCxn id="44" idx="3"/>
            <a:endCxn id="57" idx="3"/>
          </p:cNvCxnSpPr>
          <p:nvPr/>
        </p:nvCxnSpPr>
        <p:spPr>
          <a:xfrm flipV="1">
            <a:off x="4071778" y="3922995"/>
            <a:ext cx="307145" cy="15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80E63F01-F5C0-5E17-2BB3-D88B6923041E}"/>
              </a:ext>
            </a:extLst>
          </p:cNvPr>
          <p:cNvSpPr/>
          <p:nvPr/>
        </p:nvSpPr>
        <p:spPr>
          <a:xfrm>
            <a:off x="5764659" y="382522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FE1E99-219C-79F9-9B2E-98F12C24B8FB}"/>
              </a:ext>
            </a:extLst>
          </p:cNvPr>
          <p:cNvSpPr txBox="1"/>
          <p:nvPr/>
        </p:nvSpPr>
        <p:spPr>
          <a:xfrm>
            <a:off x="3140200" y="524627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70" name="Can 69">
            <a:extLst>
              <a:ext uri="{FF2B5EF4-FFF2-40B4-BE49-F238E27FC236}">
                <a16:creationId xmlns:a16="http://schemas.microsoft.com/office/drawing/2014/main" id="{079A7C93-BAE1-BC58-4B78-5DB29A28A29C}"/>
              </a:ext>
            </a:extLst>
          </p:cNvPr>
          <p:cNvSpPr/>
          <p:nvPr/>
        </p:nvSpPr>
        <p:spPr>
          <a:xfrm rot="5400000">
            <a:off x="4503127" y="5014805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24FCC49C-DC72-315F-2272-E976FF1A5BE0}"/>
              </a:ext>
            </a:extLst>
          </p:cNvPr>
          <p:cNvSpPr/>
          <p:nvPr/>
        </p:nvSpPr>
        <p:spPr>
          <a:xfrm>
            <a:off x="4334274" y="538526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897F6C37-304B-3308-CECB-A7F90DE7AD05}"/>
              </a:ext>
            </a:extLst>
          </p:cNvPr>
          <p:cNvSpPr/>
          <p:nvPr/>
        </p:nvSpPr>
        <p:spPr>
          <a:xfrm>
            <a:off x="4591770" y="538526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B4C2F6-8BA3-A098-8E21-314D95A6539D}"/>
              </a:ext>
            </a:extLst>
          </p:cNvPr>
          <p:cNvSpPr txBox="1"/>
          <p:nvPr/>
        </p:nvSpPr>
        <p:spPr>
          <a:xfrm>
            <a:off x="5214801" y="562189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781F50-A816-903D-4BD9-44D5A2FB93EA}"/>
              </a:ext>
            </a:extLst>
          </p:cNvPr>
          <p:cNvSpPr txBox="1"/>
          <p:nvPr/>
        </p:nvSpPr>
        <p:spPr>
          <a:xfrm>
            <a:off x="4200795" y="5188234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priv.ref.merchant.state.v1</a:t>
            </a:r>
          </a:p>
        </p:txBody>
      </p:sp>
      <p:cxnSp>
        <p:nvCxnSpPr>
          <p:cNvPr id="75" name="Straight Arrow Connector 47">
            <a:extLst>
              <a:ext uri="{FF2B5EF4-FFF2-40B4-BE49-F238E27FC236}">
                <a16:creationId xmlns:a16="http://schemas.microsoft.com/office/drawing/2014/main" id="{D2E13821-94B5-DBE5-3A68-3A7181627642}"/>
              </a:ext>
            </a:extLst>
          </p:cNvPr>
          <p:cNvCxnSpPr>
            <a:cxnSpLocks/>
            <a:stCxn id="6" idx="3"/>
            <a:endCxn id="2" idx="2"/>
          </p:cNvCxnSpPr>
          <p:nvPr/>
        </p:nvCxnSpPr>
        <p:spPr>
          <a:xfrm>
            <a:off x="860725" y="3922996"/>
            <a:ext cx="1349250" cy="155184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47">
            <a:extLst>
              <a:ext uri="{FF2B5EF4-FFF2-40B4-BE49-F238E27FC236}">
                <a16:creationId xmlns:a16="http://schemas.microsoft.com/office/drawing/2014/main" id="{68551DA4-39FC-D625-6096-7270C1BFE806}"/>
              </a:ext>
            </a:extLst>
          </p:cNvPr>
          <p:cNvCxnSpPr>
            <a:cxnSpLocks/>
            <a:stCxn id="57" idx="1"/>
            <a:endCxn id="68" idx="1"/>
          </p:cNvCxnSpPr>
          <p:nvPr/>
        </p:nvCxnSpPr>
        <p:spPr>
          <a:xfrm>
            <a:off x="5294256" y="3922995"/>
            <a:ext cx="470405" cy="530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47">
            <a:extLst>
              <a:ext uri="{FF2B5EF4-FFF2-40B4-BE49-F238E27FC236}">
                <a16:creationId xmlns:a16="http://schemas.microsoft.com/office/drawing/2014/main" id="{1120203F-AA6E-57AE-A103-F73482F76224}"/>
              </a:ext>
            </a:extLst>
          </p:cNvPr>
          <p:cNvCxnSpPr>
            <a:cxnSpLocks/>
            <a:stCxn id="70" idx="1"/>
            <a:endCxn id="44" idx="1"/>
          </p:cNvCxnSpPr>
          <p:nvPr/>
        </p:nvCxnSpPr>
        <p:spPr>
          <a:xfrm flipH="1" flipV="1">
            <a:off x="3412698" y="3923149"/>
            <a:ext cx="1703430" cy="1549323"/>
          </a:xfrm>
          <a:prstGeom prst="curvedConnector5">
            <a:avLst>
              <a:gd name="adj1" fmla="val -13420"/>
              <a:gd name="adj2" fmla="val 64470"/>
              <a:gd name="adj3" fmla="val 109291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n 84">
            <a:extLst>
              <a:ext uri="{FF2B5EF4-FFF2-40B4-BE49-F238E27FC236}">
                <a16:creationId xmlns:a16="http://schemas.microsoft.com/office/drawing/2014/main" id="{A028AF79-2261-7BA1-E903-EC48F5786720}"/>
              </a:ext>
            </a:extLst>
          </p:cNvPr>
          <p:cNvSpPr/>
          <p:nvPr/>
        </p:nvSpPr>
        <p:spPr>
          <a:xfrm rot="5400000">
            <a:off x="7117946" y="3470607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FB4909B4-9E30-51F7-AD61-E7A21884FB5B}"/>
              </a:ext>
            </a:extLst>
          </p:cNvPr>
          <p:cNvSpPr/>
          <p:nvPr/>
        </p:nvSpPr>
        <p:spPr>
          <a:xfrm>
            <a:off x="6949093" y="3841063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86417DAA-D623-2EDE-54EE-9423B6604486}"/>
              </a:ext>
            </a:extLst>
          </p:cNvPr>
          <p:cNvSpPr/>
          <p:nvPr/>
        </p:nvSpPr>
        <p:spPr>
          <a:xfrm>
            <a:off x="7206589" y="3841063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844579-8C63-A7CA-085B-7A784E00B47D}"/>
              </a:ext>
            </a:extLst>
          </p:cNvPr>
          <p:cNvSpPr txBox="1"/>
          <p:nvPr/>
        </p:nvSpPr>
        <p:spPr>
          <a:xfrm>
            <a:off x="7829620" y="407769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6287444-9D57-0E6B-F538-BC3355151BA2}"/>
              </a:ext>
            </a:extLst>
          </p:cNvPr>
          <p:cNvSpPr txBox="1"/>
          <p:nvPr/>
        </p:nvSpPr>
        <p:spPr>
          <a:xfrm>
            <a:off x="6533828" y="3622755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priv.pay.transaction-flagged-enriched.delta.v1</a:t>
            </a:r>
          </a:p>
        </p:txBody>
      </p:sp>
      <p:cxnSp>
        <p:nvCxnSpPr>
          <p:cNvPr id="90" name="Straight Arrow Connector 47">
            <a:extLst>
              <a:ext uri="{FF2B5EF4-FFF2-40B4-BE49-F238E27FC236}">
                <a16:creationId xmlns:a16="http://schemas.microsoft.com/office/drawing/2014/main" id="{7B5F46C3-7DF0-1008-7344-8E6F2A2DAF99}"/>
              </a:ext>
            </a:extLst>
          </p:cNvPr>
          <p:cNvCxnSpPr>
            <a:cxnSpLocks/>
            <a:stCxn id="68" idx="3"/>
            <a:endCxn id="85" idx="3"/>
          </p:cNvCxnSpPr>
          <p:nvPr/>
        </p:nvCxnSpPr>
        <p:spPr>
          <a:xfrm flipV="1">
            <a:off x="6423739" y="3928274"/>
            <a:ext cx="391875" cy="29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47">
            <a:extLst>
              <a:ext uri="{FF2B5EF4-FFF2-40B4-BE49-F238E27FC236}">
                <a16:creationId xmlns:a16="http://schemas.microsoft.com/office/drawing/2014/main" id="{12E434F5-CB46-ED0A-BB93-453EA26009ED}"/>
              </a:ext>
            </a:extLst>
          </p:cNvPr>
          <p:cNvCxnSpPr>
            <a:cxnSpLocks/>
            <a:stCxn id="85" idx="1"/>
            <a:endCxn id="112" idx="1"/>
          </p:cNvCxnSpPr>
          <p:nvPr/>
        </p:nvCxnSpPr>
        <p:spPr>
          <a:xfrm flipV="1">
            <a:off x="7730947" y="3927797"/>
            <a:ext cx="2624072" cy="47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47">
            <a:extLst>
              <a:ext uri="{FF2B5EF4-FFF2-40B4-BE49-F238E27FC236}">
                <a16:creationId xmlns:a16="http://schemas.microsoft.com/office/drawing/2014/main" id="{48B3B30F-9495-C278-7973-C8BDA2D18B5D}"/>
              </a:ext>
            </a:extLst>
          </p:cNvPr>
          <p:cNvCxnSpPr>
            <a:cxnSpLocks/>
            <a:stCxn id="47" idx="1"/>
            <a:endCxn id="44" idx="1"/>
          </p:cNvCxnSpPr>
          <p:nvPr/>
        </p:nvCxnSpPr>
        <p:spPr>
          <a:xfrm flipV="1">
            <a:off x="3004445" y="3923149"/>
            <a:ext cx="408255" cy="60180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0CA5A5D0-6AF6-B8F9-33A5-565DF54E0C12}"/>
              </a:ext>
            </a:extLst>
          </p:cNvPr>
          <p:cNvSpPr/>
          <p:nvPr/>
        </p:nvSpPr>
        <p:spPr>
          <a:xfrm>
            <a:off x="10355019" y="3824722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8AA18822-C3BA-51BA-E9E7-95C26D1F59B2}"/>
              </a:ext>
            </a:extLst>
          </p:cNvPr>
          <p:cNvSpPr/>
          <p:nvPr/>
        </p:nvSpPr>
        <p:spPr>
          <a:xfrm>
            <a:off x="10355019" y="1439424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cxnSp>
        <p:nvCxnSpPr>
          <p:cNvPr id="114" name="Straight Arrow Connector 47">
            <a:extLst>
              <a:ext uri="{FF2B5EF4-FFF2-40B4-BE49-F238E27FC236}">
                <a16:creationId xmlns:a16="http://schemas.microsoft.com/office/drawing/2014/main" id="{AE20E13C-661B-063A-4F3F-09BFE92DFB48}"/>
              </a:ext>
            </a:extLst>
          </p:cNvPr>
          <p:cNvCxnSpPr>
            <a:cxnSpLocks/>
            <a:stCxn id="8" idx="1"/>
            <a:endCxn id="113" idx="1"/>
          </p:cNvCxnSpPr>
          <p:nvPr/>
        </p:nvCxnSpPr>
        <p:spPr>
          <a:xfrm flipV="1">
            <a:off x="4378921" y="1542501"/>
            <a:ext cx="5976098" cy="6433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Table outline">
            <a:extLst>
              <a:ext uri="{FF2B5EF4-FFF2-40B4-BE49-F238E27FC236}">
                <a16:creationId xmlns:a16="http://schemas.microsoft.com/office/drawing/2014/main" id="{583D8B0D-341D-0B23-8970-91095DF8F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6364" y="1293794"/>
            <a:ext cx="481251" cy="481251"/>
          </a:xfrm>
          <a:prstGeom prst="rect">
            <a:avLst/>
          </a:prstGeom>
        </p:spPr>
      </p:pic>
      <p:pic>
        <p:nvPicPr>
          <p:cNvPr id="126" name="Graphic 125" descr="Table outline">
            <a:extLst>
              <a:ext uri="{FF2B5EF4-FFF2-40B4-BE49-F238E27FC236}">
                <a16:creationId xmlns:a16="http://schemas.microsoft.com/office/drawing/2014/main" id="{2AE2F29F-0DF8-7FA8-26AE-E950326B5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6364" y="3686462"/>
            <a:ext cx="481251" cy="481251"/>
          </a:xfrm>
          <a:prstGeom prst="rect">
            <a:avLst/>
          </a:prstGeom>
        </p:spPr>
      </p:pic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0A561DB0-4BB6-6904-DBBB-1F14A1C8509C}"/>
              </a:ext>
            </a:extLst>
          </p:cNvPr>
          <p:cNvSpPr/>
          <p:nvPr/>
        </p:nvSpPr>
        <p:spPr>
          <a:xfrm>
            <a:off x="12719472" y="142394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Normalizer</a:t>
            </a:r>
          </a:p>
        </p:txBody>
      </p:sp>
      <p:pic>
        <p:nvPicPr>
          <p:cNvPr id="128" name="Graphic 127" descr="Table outline">
            <a:extLst>
              <a:ext uri="{FF2B5EF4-FFF2-40B4-BE49-F238E27FC236}">
                <a16:creationId xmlns:a16="http://schemas.microsoft.com/office/drawing/2014/main" id="{0EF0C1D4-E297-C903-EBA2-F60487FC3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4" y="711181"/>
            <a:ext cx="481251" cy="481251"/>
          </a:xfrm>
          <a:prstGeom prst="rect">
            <a:avLst/>
          </a:prstGeom>
        </p:spPr>
      </p:pic>
      <p:pic>
        <p:nvPicPr>
          <p:cNvPr id="129" name="Graphic 128" descr="Table outline">
            <a:extLst>
              <a:ext uri="{FF2B5EF4-FFF2-40B4-BE49-F238E27FC236}">
                <a16:creationId xmlns:a16="http://schemas.microsoft.com/office/drawing/2014/main" id="{CCA7591B-B6AF-58FC-0E56-37BE2B3A18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3" y="1873076"/>
            <a:ext cx="481251" cy="481251"/>
          </a:xfrm>
          <a:prstGeom prst="rect">
            <a:avLst/>
          </a:prstGeom>
        </p:spPr>
      </p:pic>
      <p:pic>
        <p:nvPicPr>
          <p:cNvPr id="130" name="Graphic 129" descr="Table outline">
            <a:extLst>
              <a:ext uri="{FF2B5EF4-FFF2-40B4-BE49-F238E27FC236}">
                <a16:creationId xmlns:a16="http://schemas.microsoft.com/office/drawing/2014/main" id="{03A996E0-91AB-BA85-DB78-18E112D40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90363" y="1289820"/>
            <a:ext cx="481251" cy="481251"/>
          </a:xfrm>
          <a:prstGeom prst="rect">
            <a:avLst/>
          </a:prstGeom>
        </p:spPr>
      </p:pic>
      <p:pic>
        <p:nvPicPr>
          <p:cNvPr id="131" name="Graphic 130" descr="Table outline">
            <a:extLst>
              <a:ext uri="{FF2B5EF4-FFF2-40B4-BE49-F238E27FC236}">
                <a16:creationId xmlns:a16="http://schemas.microsoft.com/office/drawing/2014/main" id="{31CB647E-C000-CB31-D97D-1509D6A8C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07134" y="3007072"/>
            <a:ext cx="481251" cy="481251"/>
          </a:xfrm>
          <a:prstGeom prst="rect">
            <a:avLst/>
          </a:prstGeom>
        </p:spPr>
      </p:pic>
      <p:cxnSp>
        <p:nvCxnSpPr>
          <p:cNvPr id="132" name="Straight Arrow Connector 47">
            <a:extLst>
              <a:ext uri="{FF2B5EF4-FFF2-40B4-BE49-F238E27FC236}">
                <a16:creationId xmlns:a16="http://schemas.microsoft.com/office/drawing/2014/main" id="{30ED2ED0-0511-9989-54F9-B9CAE61EA135}"/>
              </a:ext>
            </a:extLst>
          </p:cNvPr>
          <p:cNvCxnSpPr>
            <a:cxnSpLocks/>
            <a:stCxn id="113" idx="3"/>
            <a:endCxn id="123" idx="1"/>
          </p:cNvCxnSpPr>
          <p:nvPr/>
        </p:nvCxnSpPr>
        <p:spPr>
          <a:xfrm flipV="1">
            <a:off x="11014099" y="1534420"/>
            <a:ext cx="402265" cy="808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47">
            <a:extLst>
              <a:ext uri="{FF2B5EF4-FFF2-40B4-BE49-F238E27FC236}">
                <a16:creationId xmlns:a16="http://schemas.microsoft.com/office/drawing/2014/main" id="{FE78D063-E601-4EB6-1C45-F0001F8DE121}"/>
              </a:ext>
            </a:extLst>
          </p:cNvPr>
          <p:cNvCxnSpPr>
            <a:cxnSpLocks/>
            <a:stCxn id="123" idx="3"/>
            <a:endCxn id="127" idx="1"/>
          </p:cNvCxnSpPr>
          <p:nvPr/>
        </p:nvCxnSpPr>
        <p:spPr>
          <a:xfrm flipV="1">
            <a:off x="11897615" y="1527023"/>
            <a:ext cx="821859" cy="73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ucket Icon - Free PNG &amp; SVG 394460 - Noun Project">
            <a:extLst>
              <a:ext uri="{FF2B5EF4-FFF2-40B4-BE49-F238E27FC236}">
                <a16:creationId xmlns:a16="http://schemas.microsoft.com/office/drawing/2014/main" id="{8BA31AF5-0591-1E3D-E376-84400805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490" y="1523984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8" name="Picture 2" descr="bucket Icon - Free PNG &amp; SVG 394460 - Noun Project">
            <a:extLst>
              <a:ext uri="{FF2B5EF4-FFF2-40B4-BE49-F238E27FC236}">
                <a16:creationId xmlns:a16="http://schemas.microsoft.com/office/drawing/2014/main" id="{C1E28E9A-493E-5F09-620C-A388210EE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624" y="3935168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9" name="Picture 2" descr="bucket Icon - Free PNG &amp; SVG 394460 - Noun Project">
            <a:extLst>
              <a:ext uri="{FF2B5EF4-FFF2-40B4-BE49-F238E27FC236}">
                <a16:creationId xmlns:a16="http://schemas.microsoft.com/office/drawing/2014/main" id="{0C5FD7B8-9777-B3F8-B7BC-2178F60E7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228" y="981219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0" name="Picture 2" descr="bucket Icon - Free PNG &amp; SVG 394460 - Noun Project">
            <a:extLst>
              <a:ext uri="{FF2B5EF4-FFF2-40B4-BE49-F238E27FC236}">
                <a16:creationId xmlns:a16="http://schemas.microsoft.com/office/drawing/2014/main" id="{43E2D626-564B-FB59-AA93-DED62929D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792" y="1552783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1" name="Picture 2" descr="bucket Icon - Free PNG &amp; SVG 394460 - Noun Project">
            <a:extLst>
              <a:ext uri="{FF2B5EF4-FFF2-40B4-BE49-F238E27FC236}">
                <a16:creationId xmlns:a16="http://schemas.microsoft.com/office/drawing/2014/main" id="{6302E5D6-1C90-6582-0D21-532E6CD82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0792" y="2131422"/>
            <a:ext cx="198421" cy="19842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2" name="Picture 2" descr="bucket Icon - Free PNG &amp; SVG 394460 - Noun Project">
            <a:extLst>
              <a:ext uri="{FF2B5EF4-FFF2-40B4-BE49-F238E27FC236}">
                <a16:creationId xmlns:a16="http://schemas.microsoft.com/office/drawing/2014/main" id="{66F6E0A5-9514-344A-A95B-8D81471AD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8399" y="3285285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43" name="Straight Arrow Connector 47">
            <a:extLst>
              <a:ext uri="{FF2B5EF4-FFF2-40B4-BE49-F238E27FC236}">
                <a16:creationId xmlns:a16="http://schemas.microsoft.com/office/drawing/2014/main" id="{A7024DD0-CAA5-87E8-9A10-682DE1341086}"/>
              </a:ext>
            </a:extLst>
          </p:cNvPr>
          <p:cNvCxnSpPr>
            <a:cxnSpLocks/>
            <a:stCxn id="112" idx="3"/>
            <a:endCxn id="126" idx="1"/>
          </p:cNvCxnSpPr>
          <p:nvPr/>
        </p:nvCxnSpPr>
        <p:spPr>
          <a:xfrm flipV="1">
            <a:off x="11014099" y="3927088"/>
            <a:ext cx="402265" cy="71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EE9FEE0A-032E-1ED4-AD31-94A5A03A887F}"/>
              </a:ext>
            </a:extLst>
          </p:cNvPr>
          <p:cNvSpPr/>
          <p:nvPr/>
        </p:nvSpPr>
        <p:spPr>
          <a:xfrm>
            <a:off x="10355019" y="3144348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pic>
        <p:nvPicPr>
          <p:cNvPr id="147" name="Graphic 146" descr="Table outline">
            <a:extLst>
              <a:ext uri="{FF2B5EF4-FFF2-40B4-BE49-F238E27FC236}">
                <a16:creationId xmlns:a16="http://schemas.microsoft.com/office/drawing/2014/main" id="{A020A03F-01B9-4705-5D55-AC7DF8F7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1027" y="3004147"/>
            <a:ext cx="481251" cy="481251"/>
          </a:xfrm>
          <a:prstGeom prst="rect">
            <a:avLst/>
          </a:prstGeom>
        </p:spPr>
      </p:pic>
      <p:pic>
        <p:nvPicPr>
          <p:cNvPr id="148" name="Picture 2" descr="bucket Icon - Free PNG &amp; SVG 394460 - Noun Project">
            <a:extLst>
              <a:ext uri="{FF2B5EF4-FFF2-40B4-BE49-F238E27FC236}">
                <a16:creationId xmlns:a16="http://schemas.microsoft.com/office/drawing/2014/main" id="{214C2FCF-811D-8F44-1037-F061CB45C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287" y="3260053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49" name="Straight Arrow Connector 47">
            <a:extLst>
              <a:ext uri="{FF2B5EF4-FFF2-40B4-BE49-F238E27FC236}">
                <a16:creationId xmlns:a16="http://schemas.microsoft.com/office/drawing/2014/main" id="{B018246B-43CF-BC4B-0A67-1CE0167C3BF2}"/>
              </a:ext>
            </a:extLst>
          </p:cNvPr>
          <p:cNvCxnSpPr>
            <a:cxnSpLocks/>
            <a:stCxn id="146" idx="3"/>
            <a:endCxn id="147" idx="1"/>
          </p:cNvCxnSpPr>
          <p:nvPr/>
        </p:nvCxnSpPr>
        <p:spPr>
          <a:xfrm flipV="1">
            <a:off x="11014097" y="3244771"/>
            <a:ext cx="416928" cy="2652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47">
            <a:extLst>
              <a:ext uri="{FF2B5EF4-FFF2-40B4-BE49-F238E27FC236}">
                <a16:creationId xmlns:a16="http://schemas.microsoft.com/office/drawing/2014/main" id="{B97482FF-D00B-D99C-E615-7DBA176BCA71}"/>
              </a:ext>
            </a:extLst>
          </p:cNvPr>
          <p:cNvCxnSpPr>
            <a:cxnSpLocks/>
            <a:stCxn id="40" idx="1"/>
            <a:endCxn id="146" idx="1"/>
          </p:cNvCxnSpPr>
          <p:nvPr/>
        </p:nvCxnSpPr>
        <p:spPr>
          <a:xfrm flipV="1">
            <a:off x="3004443" y="3247425"/>
            <a:ext cx="7350576" cy="675571"/>
          </a:xfrm>
          <a:prstGeom prst="curvedConnector3">
            <a:avLst>
              <a:gd name="adj1" fmla="val 4844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6095FBB-BEA3-95C3-E5BC-34138DDAE6F7}"/>
              </a:ext>
            </a:extLst>
          </p:cNvPr>
          <p:cNvSpPr txBox="1"/>
          <p:nvPr/>
        </p:nvSpPr>
        <p:spPr>
          <a:xfrm>
            <a:off x="11365583" y="2935070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raw_transaction_t</a:t>
            </a:r>
            <a:endParaRPr lang="de-DE" sz="7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6659AF2-C1CD-51D3-9EBA-4D92B1A348A1}"/>
              </a:ext>
            </a:extLst>
          </p:cNvPr>
          <p:cNvSpPr txBox="1"/>
          <p:nvPr/>
        </p:nvSpPr>
        <p:spPr>
          <a:xfrm>
            <a:off x="11240374" y="3607852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raw_transaction_flagged_t</a:t>
            </a:r>
            <a:endParaRPr lang="de-DE" sz="7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9460DB-3533-7BAB-7092-81E5389A9119}"/>
              </a:ext>
            </a:extLst>
          </p:cNvPr>
          <p:cNvSpPr txBox="1"/>
          <p:nvPr/>
        </p:nvSpPr>
        <p:spPr>
          <a:xfrm>
            <a:off x="11269575" y="1213562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raw_cardholder_t</a:t>
            </a:r>
            <a:endParaRPr lang="de-DE" sz="7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A752C45-149B-4076-4283-341FBED2E4EC}"/>
              </a:ext>
            </a:extLst>
          </p:cNvPr>
          <p:cNvSpPr txBox="1"/>
          <p:nvPr/>
        </p:nvSpPr>
        <p:spPr>
          <a:xfrm>
            <a:off x="13990362" y="656407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cur_person_t</a:t>
            </a:r>
            <a:endParaRPr lang="de-DE" sz="7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3B3839-88BE-A047-FBDB-70796C14F706}"/>
              </a:ext>
            </a:extLst>
          </p:cNvPr>
          <p:cNvSpPr txBox="1"/>
          <p:nvPr/>
        </p:nvSpPr>
        <p:spPr>
          <a:xfrm>
            <a:off x="13973321" y="1232932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cur_address_t</a:t>
            </a:r>
            <a:endParaRPr lang="de-DE" sz="7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6CC2D47-A39A-C77B-C76B-74E91F133B61}"/>
              </a:ext>
            </a:extLst>
          </p:cNvPr>
          <p:cNvSpPr txBox="1"/>
          <p:nvPr/>
        </p:nvSpPr>
        <p:spPr>
          <a:xfrm>
            <a:off x="13960792" y="1824331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cur_card_t</a:t>
            </a:r>
            <a:endParaRPr lang="de-DE" sz="700" dirty="0"/>
          </a:p>
        </p:txBody>
      </p:sp>
      <p:cxnSp>
        <p:nvCxnSpPr>
          <p:cNvPr id="161" name="Straight Arrow Connector 47">
            <a:extLst>
              <a:ext uri="{FF2B5EF4-FFF2-40B4-BE49-F238E27FC236}">
                <a16:creationId xmlns:a16="http://schemas.microsoft.com/office/drawing/2014/main" id="{29E71422-EF4E-72AF-40CE-7188FFDC4F34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 flipV="1">
            <a:off x="13378550" y="951805"/>
            <a:ext cx="611812" cy="57521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47">
            <a:extLst>
              <a:ext uri="{FF2B5EF4-FFF2-40B4-BE49-F238E27FC236}">
                <a16:creationId xmlns:a16="http://schemas.microsoft.com/office/drawing/2014/main" id="{664BB990-333C-650D-BA9E-C3FDA6A5760B}"/>
              </a:ext>
            </a:extLst>
          </p:cNvPr>
          <p:cNvCxnSpPr>
            <a:cxnSpLocks/>
            <a:stCxn id="127" idx="3"/>
            <a:endCxn id="130" idx="1"/>
          </p:cNvCxnSpPr>
          <p:nvPr/>
        </p:nvCxnSpPr>
        <p:spPr>
          <a:xfrm>
            <a:off x="13378552" y="1527023"/>
            <a:ext cx="611811" cy="3423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47">
            <a:extLst>
              <a:ext uri="{FF2B5EF4-FFF2-40B4-BE49-F238E27FC236}">
                <a16:creationId xmlns:a16="http://schemas.microsoft.com/office/drawing/2014/main" id="{FB8C736F-A58E-14E5-6597-C095BF1CD1B6}"/>
              </a:ext>
            </a:extLst>
          </p:cNvPr>
          <p:cNvCxnSpPr>
            <a:cxnSpLocks/>
            <a:stCxn id="127" idx="3"/>
          </p:cNvCxnSpPr>
          <p:nvPr/>
        </p:nvCxnSpPr>
        <p:spPr>
          <a:xfrm>
            <a:off x="13378552" y="1527023"/>
            <a:ext cx="611811" cy="58636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Graphic 169" descr="Table outline">
            <a:extLst>
              <a:ext uri="{FF2B5EF4-FFF2-40B4-BE49-F238E27FC236}">
                <a16:creationId xmlns:a16="http://schemas.microsoft.com/office/drawing/2014/main" id="{7F902850-8543-DD7C-DADB-B72DB1A95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92164" y="5220152"/>
            <a:ext cx="481251" cy="481251"/>
          </a:xfrm>
          <a:prstGeom prst="rect">
            <a:avLst/>
          </a:prstGeom>
        </p:spPr>
      </p:pic>
      <p:pic>
        <p:nvPicPr>
          <p:cNvPr id="171" name="Picture 2" descr="bucket Icon - Free PNG &amp; SVG 394460 - Noun Project">
            <a:extLst>
              <a:ext uri="{FF2B5EF4-FFF2-40B4-BE49-F238E27FC236}">
                <a16:creationId xmlns:a16="http://schemas.microsoft.com/office/drawing/2014/main" id="{89158734-A062-89ED-F4C9-73FE1E0FD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3429" y="5498365"/>
            <a:ext cx="198421" cy="1984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81931C3A-D3B6-0634-7CEC-A05AC79C2BD8}"/>
              </a:ext>
            </a:extLst>
          </p:cNvPr>
          <p:cNvSpPr/>
          <p:nvPr/>
        </p:nvSpPr>
        <p:spPr>
          <a:xfrm>
            <a:off x="10392101" y="5359400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Iceberg Sink</a:t>
            </a:r>
          </a:p>
        </p:txBody>
      </p:sp>
      <p:cxnSp>
        <p:nvCxnSpPr>
          <p:cNvPr id="173" name="Straight Arrow Connector 47">
            <a:extLst>
              <a:ext uri="{FF2B5EF4-FFF2-40B4-BE49-F238E27FC236}">
                <a16:creationId xmlns:a16="http://schemas.microsoft.com/office/drawing/2014/main" id="{06BA1C3E-155F-A02E-4CA4-E2645C1CD753}"/>
              </a:ext>
            </a:extLst>
          </p:cNvPr>
          <p:cNvCxnSpPr>
            <a:cxnSpLocks/>
            <a:stCxn id="70" idx="1"/>
            <a:endCxn id="172" idx="1"/>
          </p:cNvCxnSpPr>
          <p:nvPr/>
        </p:nvCxnSpPr>
        <p:spPr>
          <a:xfrm flipV="1">
            <a:off x="5116128" y="5462475"/>
            <a:ext cx="5275973" cy="99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47">
            <a:extLst>
              <a:ext uri="{FF2B5EF4-FFF2-40B4-BE49-F238E27FC236}">
                <a16:creationId xmlns:a16="http://schemas.microsoft.com/office/drawing/2014/main" id="{2766415D-3750-B398-256F-4F0320AF98FF}"/>
              </a:ext>
            </a:extLst>
          </p:cNvPr>
          <p:cNvCxnSpPr>
            <a:cxnSpLocks/>
            <a:stCxn id="172" idx="3"/>
            <a:endCxn id="170" idx="1"/>
          </p:cNvCxnSpPr>
          <p:nvPr/>
        </p:nvCxnSpPr>
        <p:spPr>
          <a:xfrm flipV="1">
            <a:off x="11051179" y="5460778"/>
            <a:ext cx="340985" cy="169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31DBC59-8A14-D4C0-A01C-00C82171FE1B}"/>
              </a:ext>
            </a:extLst>
          </p:cNvPr>
          <p:cNvSpPr txBox="1"/>
          <p:nvPr/>
        </p:nvSpPr>
        <p:spPr>
          <a:xfrm>
            <a:off x="11287786" y="4535765"/>
            <a:ext cx="812569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raw_merchant_t</a:t>
            </a:r>
            <a:endParaRPr lang="de-DE" sz="7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9DB6D64-B27C-429A-AE59-6C0E469271D3}"/>
              </a:ext>
            </a:extLst>
          </p:cNvPr>
          <p:cNvSpPr txBox="1"/>
          <p:nvPr/>
        </p:nvSpPr>
        <p:spPr>
          <a:xfrm>
            <a:off x="13855107" y="2927231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cur_transaction_with_merchant_t</a:t>
            </a:r>
            <a:endParaRPr lang="de-DE" sz="700" dirty="0"/>
          </a:p>
        </p:txBody>
      </p:sp>
      <p:cxnSp>
        <p:nvCxnSpPr>
          <p:cNvPr id="185" name="Straight Arrow Connector 47">
            <a:extLst>
              <a:ext uri="{FF2B5EF4-FFF2-40B4-BE49-F238E27FC236}">
                <a16:creationId xmlns:a16="http://schemas.microsoft.com/office/drawing/2014/main" id="{AA978FCB-B32A-A8CA-0A12-1B9A59EE9EB4}"/>
              </a:ext>
            </a:extLst>
          </p:cNvPr>
          <p:cNvCxnSpPr>
            <a:cxnSpLocks/>
            <a:endCxn id="186" idx="1"/>
          </p:cNvCxnSpPr>
          <p:nvPr/>
        </p:nvCxnSpPr>
        <p:spPr>
          <a:xfrm>
            <a:off x="11933289" y="3239529"/>
            <a:ext cx="781488" cy="6122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6C6DE6A0-3262-2B17-4377-A1D64202389E}"/>
              </a:ext>
            </a:extLst>
          </p:cNvPr>
          <p:cNvSpPr/>
          <p:nvPr/>
        </p:nvSpPr>
        <p:spPr>
          <a:xfrm>
            <a:off x="12714777" y="3142576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cxnSp>
        <p:nvCxnSpPr>
          <p:cNvPr id="188" name="Straight Arrow Connector 47">
            <a:extLst>
              <a:ext uri="{FF2B5EF4-FFF2-40B4-BE49-F238E27FC236}">
                <a16:creationId xmlns:a16="http://schemas.microsoft.com/office/drawing/2014/main" id="{407411C2-ADA0-17B3-6E0C-6B9CC5ED2CB6}"/>
              </a:ext>
            </a:extLst>
          </p:cNvPr>
          <p:cNvCxnSpPr>
            <a:cxnSpLocks/>
            <a:stCxn id="186" idx="3"/>
            <a:endCxn id="131" idx="1"/>
          </p:cNvCxnSpPr>
          <p:nvPr/>
        </p:nvCxnSpPr>
        <p:spPr>
          <a:xfrm>
            <a:off x="13373857" y="3245653"/>
            <a:ext cx="833277" cy="204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47">
            <a:extLst>
              <a:ext uri="{FF2B5EF4-FFF2-40B4-BE49-F238E27FC236}">
                <a16:creationId xmlns:a16="http://schemas.microsoft.com/office/drawing/2014/main" id="{8A559700-DDCE-6494-90EF-5CD31FDED5A6}"/>
              </a:ext>
            </a:extLst>
          </p:cNvPr>
          <p:cNvCxnSpPr>
            <a:cxnSpLocks/>
            <a:stCxn id="170" idx="3"/>
            <a:endCxn id="186" idx="1"/>
          </p:cNvCxnSpPr>
          <p:nvPr/>
        </p:nvCxnSpPr>
        <p:spPr>
          <a:xfrm flipV="1">
            <a:off x="11873415" y="3245651"/>
            <a:ext cx="841362" cy="221512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Rounded Rectangle 1029">
            <a:extLst>
              <a:ext uri="{FF2B5EF4-FFF2-40B4-BE49-F238E27FC236}">
                <a16:creationId xmlns:a16="http://schemas.microsoft.com/office/drawing/2014/main" id="{7685466A-F812-EF2B-6D64-2AD76A938C85}"/>
              </a:ext>
            </a:extLst>
          </p:cNvPr>
          <p:cNvSpPr/>
          <p:nvPr/>
        </p:nvSpPr>
        <p:spPr>
          <a:xfrm>
            <a:off x="15548404" y="3144620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Enricher</a:t>
            </a:r>
          </a:p>
        </p:txBody>
      </p:sp>
      <p:cxnSp>
        <p:nvCxnSpPr>
          <p:cNvPr id="1031" name="Straight Arrow Connector 47">
            <a:extLst>
              <a:ext uri="{FF2B5EF4-FFF2-40B4-BE49-F238E27FC236}">
                <a16:creationId xmlns:a16="http://schemas.microsoft.com/office/drawing/2014/main" id="{9594B6B7-C9F5-384A-1B52-C6415F03E652}"/>
              </a:ext>
            </a:extLst>
          </p:cNvPr>
          <p:cNvCxnSpPr>
            <a:cxnSpLocks/>
            <a:stCxn id="131" idx="3"/>
            <a:endCxn id="1030" idx="1"/>
          </p:cNvCxnSpPr>
          <p:nvPr/>
        </p:nvCxnSpPr>
        <p:spPr>
          <a:xfrm flipV="1">
            <a:off x="14688385" y="3247697"/>
            <a:ext cx="860021" cy="1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47">
            <a:extLst>
              <a:ext uri="{FF2B5EF4-FFF2-40B4-BE49-F238E27FC236}">
                <a16:creationId xmlns:a16="http://schemas.microsoft.com/office/drawing/2014/main" id="{2AF56AF3-8858-21FD-6537-73E167213113}"/>
              </a:ext>
            </a:extLst>
          </p:cNvPr>
          <p:cNvCxnSpPr>
            <a:cxnSpLocks/>
            <a:stCxn id="128" idx="3"/>
            <a:endCxn id="1030" idx="1"/>
          </p:cNvCxnSpPr>
          <p:nvPr/>
        </p:nvCxnSpPr>
        <p:spPr>
          <a:xfrm>
            <a:off x="14471615" y="951805"/>
            <a:ext cx="1076791" cy="2295890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7" name="Graphic 1036" descr="Table outline">
            <a:extLst>
              <a:ext uri="{FF2B5EF4-FFF2-40B4-BE49-F238E27FC236}">
                <a16:creationId xmlns:a16="http://schemas.microsoft.com/office/drawing/2014/main" id="{D4D3535F-1EF9-8D30-1B56-853F8A85C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15641" y="3009166"/>
            <a:ext cx="481251" cy="481251"/>
          </a:xfrm>
          <a:prstGeom prst="rect">
            <a:avLst/>
          </a:prstGeom>
        </p:spPr>
      </p:pic>
      <p:pic>
        <p:nvPicPr>
          <p:cNvPr id="1038" name="Picture 2" descr="bucket Icon - Free PNG &amp; SVG 394460 - Noun Project">
            <a:extLst>
              <a:ext uri="{FF2B5EF4-FFF2-40B4-BE49-F238E27FC236}">
                <a16:creationId xmlns:a16="http://schemas.microsoft.com/office/drawing/2014/main" id="{70C952CE-FBAA-7D92-FFA1-F25CCD774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6906" y="3287379"/>
            <a:ext cx="198421" cy="198421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039" name="Straight Arrow Connector 47">
            <a:extLst>
              <a:ext uri="{FF2B5EF4-FFF2-40B4-BE49-F238E27FC236}">
                <a16:creationId xmlns:a16="http://schemas.microsoft.com/office/drawing/2014/main" id="{7C903215-C3D7-7281-E182-8901D41E14F5}"/>
              </a:ext>
            </a:extLst>
          </p:cNvPr>
          <p:cNvCxnSpPr>
            <a:cxnSpLocks/>
            <a:stCxn id="1030" idx="3"/>
            <a:endCxn id="1037" idx="1"/>
          </p:cNvCxnSpPr>
          <p:nvPr/>
        </p:nvCxnSpPr>
        <p:spPr>
          <a:xfrm>
            <a:off x="16207484" y="3247697"/>
            <a:ext cx="408157" cy="209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ounded Rectangle 1098">
            <a:extLst>
              <a:ext uri="{FF2B5EF4-FFF2-40B4-BE49-F238E27FC236}">
                <a16:creationId xmlns:a16="http://schemas.microsoft.com/office/drawing/2014/main" id="{A7325B50-3907-135A-1E3C-2FDE77296315}"/>
              </a:ext>
            </a:extLst>
          </p:cNvPr>
          <p:cNvSpPr/>
          <p:nvPr/>
        </p:nvSpPr>
        <p:spPr>
          <a:xfrm>
            <a:off x="1810646" y="2744474"/>
            <a:ext cx="15774704" cy="209608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ounded Rectangle 1099">
            <a:extLst>
              <a:ext uri="{FF2B5EF4-FFF2-40B4-BE49-F238E27FC236}">
                <a16:creationId xmlns:a16="http://schemas.microsoft.com/office/drawing/2014/main" id="{2C1406DC-8BDB-89D2-54AF-7F20F3312354}"/>
              </a:ext>
            </a:extLst>
          </p:cNvPr>
          <p:cNvSpPr/>
          <p:nvPr/>
        </p:nvSpPr>
        <p:spPr>
          <a:xfrm>
            <a:off x="2084390" y="2645128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Payment</a:t>
            </a:r>
          </a:p>
        </p:txBody>
      </p:sp>
      <p:sp>
        <p:nvSpPr>
          <p:cNvPr id="1101" name="Rounded Rectangle 1100">
            <a:extLst>
              <a:ext uri="{FF2B5EF4-FFF2-40B4-BE49-F238E27FC236}">
                <a16:creationId xmlns:a16="http://schemas.microsoft.com/office/drawing/2014/main" id="{6F54B2F2-6722-66AE-17ED-08DC68550E9D}"/>
              </a:ext>
            </a:extLst>
          </p:cNvPr>
          <p:cNvSpPr/>
          <p:nvPr/>
        </p:nvSpPr>
        <p:spPr>
          <a:xfrm>
            <a:off x="1810646" y="5135002"/>
            <a:ext cx="10872586" cy="166169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ounded Rectangle 1101">
            <a:extLst>
              <a:ext uri="{FF2B5EF4-FFF2-40B4-BE49-F238E27FC236}">
                <a16:creationId xmlns:a16="http://schemas.microsoft.com/office/drawing/2014/main" id="{31F78C2C-ED62-D903-5296-438B5D244DE5}"/>
              </a:ext>
            </a:extLst>
          </p:cNvPr>
          <p:cNvSpPr/>
          <p:nvPr/>
        </p:nvSpPr>
        <p:spPr>
          <a:xfrm>
            <a:off x="2121472" y="5025318"/>
            <a:ext cx="983419" cy="187561"/>
          </a:xfrm>
          <a:prstGeom prst="roundRect">
            <a:avLst/>
          </a:prstGeom>
          <a:solidFill>
            <a:srgbClr val="EB5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b="1" dirty="0">
                <a:solidFill>
                  <a:schemeClr val="bg1"/>
                </a:solidFill>
              </a:rPr>
              <a:t>Reference Data</a:t>
            </a:r>
          </a:p>
        </p:txBody>
      </p:sp>
      <p:pic>
        <p:nvPicPr>
          <p:cNvPr id="1109" name="Graphic 1108" descr="Table outline">
            <a:extLst>
              <a:ext uri="{FF2B5EF4-FFF2-40B4-BE49-F238E27FC236}">
                <a16:creationId xmlns:a16="http://schemas.microsoft.com/office/drawing/2014/main" id="{E4873DE8-434C-AAB8-6D25-B65B8E069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6647" y="2052787"/>
            <a:ext cx="368444" cy="368444"/>
          </a:xfrm>
          <a:prstGeom prst="rect">
            <a:avLst/>
          </a:prstGeom>
        </p:spPr>
      </p:pic>
      <p:pic>
        <p:nvPicPr>
          <p:cNvPr id="1110" name="Graphic 1109" descr="Table outline">
            <a:extLst>
              <a:ext uri="{FF2B5EF4-FFF2-40B4-BE49-F238E27FC236}">
                <a16:creationId xmlns:a16="http://schemas.microsoft.com/office/drawing/2014/main" id="{807CB083-B9B0-1D4D-0993-712AF01D1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36332" y="2052787"/>
            <a:ext cx="368444" cy="368444"/>
          </a:xfrm>
          <a:prstGeom prst="rect">
            <a:avLst/>
          </a:prstGeom>
        </p:spPr>
      </p:pic>
      <p:pic>
        <p:nvPicPr>
          <p:cNvPr id="1112" name="Graphic 1111" descr="Table outline">
            <a:extLst>
              <a:ext uri="{FF2B5EF4-FFF2-40B4-BE49-F238E27FC236}">
                <a16:creationId xmlns:a16="http://schemas.microsoft.com/office/drawing/2014/main" id="{7AE2CDA5-DFF5-1AD5-AF01-E16B8C0D0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3208" y="2052787"/>
            <a:ext cx="368444" cy="368444"/>
          </a:xfrm>
          <a:prstGeom prst="rect">
            <a:avLst/>
          </a:prstGeom>
        </p:spPr>
      </p:pic>
      <p:pic>
        <p:nvPicPr>
          <p:cNvPr id="1113" name="Graphic 1112" descr="Table outline">
            <a:extLst>
              <a:ext uri="{FF2B5EF4-FFF2-40B4-BE49-F238E27FC236}">
                <a16:creationId xmlns:a16="http://schemas.microsoft.com/office/drawing/2014/main" id="{89E01556-1E42-F2FD-8AC4-018D73A18C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922" y="2052787"/>
            <a:ext cx="368444" cy="368444"/>
          </a:xfrm>
          <a:prstGeom prst="rect">
            <a:avLst/>
          </a:prstGeom>
        </p:spPr>
      </p:pic>
      <p:sp>
        <p:nvSpPr>
          <p:cNvPr id="1114" name="TextBox 1113">
            <a:extLst>
              <a:ext uri="{FF2B5EF4-FFF2-40B4-BE49-F238E27FC236}">
                <a16:creationId xmlns:a16="http://schemas.microsoft.com/office/drawing/2014/main" id="{8AC46241-8FBE-CD95-737F-05955D1C15FC}"/>
              </a:ext>
            </a:extLst>
          </p:cNvPr>
          <p:cNvSpPr txBox="1"/>
          <p:nvPr/>
        </p:nvSpPr>
        <p:spPr>
          <a:xfrm>
            <a:off x="2149677" y="1997311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person</a:t>
            </a:r>
            <a:endParaRPr lang="de-DE" sz="700" dirty="0"/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70405244-7F3A-89F9-9741-04E7AE3B12E5}"/>
              </a:ext>
            </a:extLst>
          </p:cNvPr>
          <p:cNvSpPr txBox="1"/>
          <p:nvPr/>
        </p:nvSpPr>
        <p:spPr>
          <a:xfrm>
            <a:off x="2474996" y="2004300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address</a:t>
            </a:r>
            <a:endParaRPr lang="de-DE" sz="700" dirty="0"/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E0D0935E-0EEE-0676-97D1-17A935487E8A}"/>
              </a:ext>
            </a:extLst>
          </p:cNvPr>
          <p:cNvSpPr txBox="1"/>
          <p:nvPr/>
        </p:nvSpPr>
        <p:spPr>
          <a:xfrm>
            <a:off x="2822792" y="2004861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country</a:t>
            </a:r>
            <a:endParaRPr lang="de-DE" sz="700" dirty="0"/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D0A2E44F-18CB-5255-ACFC-515A2FA1C2BC}"/>
              </a:ext>
            </a:extLst>
          </p:cNvPr>
          <p:cNvSpPr txBox="1"/>
          <p:nvPr/>
        </p:nvSpPr>
        <p:spPr>
          <a:xfrm>
            <a:off x="3208570" y="1998800"/>
            <a:ext cx="337852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card</a:t>
            </a:r>
            <a:endParaRPr lang="de-DE" sz="700" dirty="0"/>
          </a:p>
        </p:txBody>
      </p:sp>
      <p:sp>
        <p:nvSpPr>
          <p:cNvPr id="1121" name="Can 1120">
            <a:extLst>
              <a:ext uri="{FF2B5EF4-FFF2-40B4-BE49-F238E27FC236}">
                <a16:creationId xmlns:a16="http://schemas.microsoft.com/office/drawing/2014/main" id="{9499EAB1-99D2-270A-F9C0-B92CA86D8164}"/>
              </a:ext>
            </a:extLst>
          </p:cNvPr>
          <p:cNvSpPr/>
          <p:nvPr/>
        </p:nvSpPr>
        <p:spPr>
          <a:xfrm rot="5400000">
            <a:off x="2405424" y="5896665"/>
            <a:ext cx="310669" cy="91533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A00D2"/>
              </a:solidFill>
            </a:endParaRPr>
          </a:p>
        </p:txBody>
      </p:sp>
      <p:sp>
        <p:nvSpPr>
          <p:cNvPr id="1122" name="Rounded Rectangle 1121">
            <a:extLst>
              <a:ext uri="{FF2B5EF4-FFF2-40B4-BE49-F238E27FC236}">
                <a16:creationId xmlns:a16="http://schemas.microsoft.com/office/drawing/2014/main" id="{92865D4C-2265-B853-9341-48C1B2980CB7}"/>
              </a:ext>
            </a:extLst>
          </p:cNvPr>
          <p:cNvSpPr/>
          <p:nvPr/>
        </p:nvSpPr>
        <p:spPr>
          <a:xfrm>
            <a:off x="2236571" y="626712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ounded Rectangle 1122">
            <a:extLst>
              <a:ext uri="{FF2B5EF4-FFF2-40B4-BE49-F238E27FC236}">
                <a16:creationId xmlns:a16="http://schemas.microsoft.com/office/drawing/2014/main" id="{AB32017D-C493-1E2A-25E7-2CB6EAE121FF}"/>
              </a:ext>
            </a:extLst>
          </p:cNvPr>
          <p:cNvSpPr/>
          <p:nvPr/>
        </p:nvSpPr>
        <p:spPr>
          <a:xfrm>
            <a:off x="2494067" y="6267122"/>
            <a:ext cx="192024" cy="187452"/>
          </a:xfrm>
          <a:prstGeom prst="roundRect">
            <a:avLst/>
          </a:prstGeom>
          <a:solidFill>
            <a:srgbClr val="96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E2FF550B-754C-1F60-041D-0926B06DD87D}"/>
              </a:ext>
            </a:extLst>
          </p:cNvPr>
          <p:cNvSpPr txBox="1"/>
          <p:nvPr/>
        </p:nvSpPr>
        <p:spPr>
          <a:xfrm>
            <a:off x="3117098" y="650375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84B2F201-76EC-F1C1-D2D4-8B71B596D9E2}"/>
              </a:ext>
            </a:extLst>
          </p:cNvPr>
          <p:cNvSpPr txBox="1"/>
          <p:nvPr/>
        </p:nvSpPr>
        <p:spPr>
          <a:xfrm>
            <a:off x="2052790" y="6074876"/>
            <a:ext cx="1666555" cy="1970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/>
              <a:t>priv.ref.geonames.state.v1</a:t>
            </a:r>
          </a:p>
        </p:txBody>
      </p:sp>
      <p:sp>
        <p:nvSpPr>
          <p:cNvPr id="1126" name="Rounded Rectangle 1125">
            <a:extLst>
              <a:ext uri="{FF2B5EF4-FFF2-40B4-BE49-F238E27FC236}">
                <a16:creationId xmlns:a16="http://schemas.microsoft.com/office/drawing/2014/main" id="{A101B5E3-515C-9272-89D1-39D9967557B7}"/>
              </a:ext>
            </a:extLst>
          </p:cNvPr>
          <p:cNvSpPr/>
          <p:nvPr/>
        </p:nvSpPr>
        <p:spPr>
          <a:xfrm>
            <a:off x="3389806" y="6438512"/>
            <a:ext cx="793882" cy="22985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700" b="1" dirty="0"/>
              <a:t>File to Kafka</a:t>
            </a:r>
          </a:p>
        </p:txBody>
      </p:sp>
      <p:pic>
        <p:nvPicPr>
          <p:cNvPr id="1130" name="Graphic 1129" descr="Paper outline">
            <a:extLst>
              <a:ext uri="{FF2B5EF4-FFF2-40B4-BE49-F238E27FC236}">
                <a16:creationId xmlns:a16="http://schemas.microsoft.com/office/drawing/2014/main" id="{0BC26872-8F47-87C3-64DE-DB100A77C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7530" y="6351096"/>
            <a:ext cx="404472" cy="404472"/>
          </a:xfrm>
          <a:prstGeom prst="rect">
            <a:avLst/>
          </a:prstGeom>
        </p:spPr>
      </p:pic>
      <p:cxnSp>
        <p:nvCxnSpPr>
          <p:cNvPr id="1131" name="Straight Arrow Connector 47">
            <a:extLst>
              <a:ext uri="{FF2B5EF4-FFF2-40B4-BE49-F238E27FC236}">
                <a16:creationId xmlns:a16="http://schemas.microsoft.com/office/drawing/2014/main" id="{70932B0C-8F6A-BB6B-E0B3-EC053BF681BE}"/>
              </a:ext>
            </a:extLst>
          </p:cNvPr>
          <p:cNvCxnSpPr>
            <a:cxnSpLocks/>
            <a:stCxn id="1126" idx="1"/>
            <a:endCxn id="1121" idx="3"/>
          </p:cNvCxnSpPr>
          <p:nvPr/>
        </p:nvCxnSpPr>
        <p:spPr>
          <a:xfrm rot="10800000">
            <a:off x="2103092" y="6354333"/>
            <a:ext cx="1286714" cy="199107"/>
          </a:xfrm>
          <a:prstGeom prst="curvedConnector5">
            <a:avLst>
              <a:gd name="adj1" fmla="val 26180"/>
              <a:gd name="adj2" fmla="val -56262"/>
              <a:gd name="adj3" fmla="val 117766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Arrow Connector 47">
            <a:extLst>
              <a:ext uri="{FF2B5EF4-FFF2-40B4-BE49-F238E27FC236}">
                <a16:creationId xmlns:a16="http://schemas.microsoft.com/office/drawing/2014/main" id="{C797ACBB-F68E-A456-7A83-93B85D9C6E42}"/>
              </a:ext>
            </a:extLst>
          </p:cNvPr>
          <p:cNvCxnSpPr>
            <a:cxnSpLocks/>
            <a:stCxn id="1130" idx="1"/>
            <a:endCxn id="1126" idx="3"/>
          </p:cNvCxnSpPr>
          <p:nvPr/>
        </p:nvCxnSpPr>
        <p:spPr>
          <a:xfrm rot="10800000" flipV="1">
            <a:off x="4183688" y="6553333"/>
            <a:ext cx="233842" cy="105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CDC59D17-2098-B87B-E6F3-C3B8EE425B40}"/>
              </a:ext>
            </a:extLst>
          </p:cNvPr>
          <p:cNvSpPr txBox="1"/>
          <p:nvPr/>
        </p:nvSpPr>
        <p:spPr>
          <a:xfrm>
            <a:off x="4366646" y="6251567"/>
            <a:ext cx="914400" cy="122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700" dirty="0"/>
              <a:t>cities1000.txt</a:t>
            </a:r>
          </a:p>
        </p:txBody>
      </p:sp>
      <p:cxnSp>
        <p:nvCxnSpPr>
          <p:cNvPr id="1151" name="Straight Arrow Connector 47">
            <a:extLst>
              <a:ext uri="{FF2B5EF4-FFF2-40B4-BE49-F238E27FC236}">
                <a16:creationId xmlns:a16="http://schemas.microsoft.com/office/drawing/2014/main" id="{322D2140-0F31-A578-E8DF-6DE7EABD138A}"/>
              </a:ext>
            </a:extLst>
          </p:cNvPr>
          <p:cNvCxnSpPr>
            <a:cxnSpLocks/>
            <a:stCxn id="1121" idx="1"/>
          </p:cNvCxnSpPr>
          <p:nvPr/>
        </p:nvCxnSpPr>
        <p:spPr>
          <a:xfrm>
            <a:off x="3018425" y="6354332"/>
            <a:ext cx="5011883" cy="12700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7" name="TextBox 1166">
            <a:extLst>
              <a:ext uri="{FF2B5EF4-FFF2-40B4-BE49-F238E27FC236}">
                <a16:creationId xmlns:a16="http://schemas.microsoft.com/office/drawing/2014/main" id="{BF2DDE25-B3F9-C4A7-BAB5-74EBAEDDE55E}"/>
              </a:ext>
            </a:extLst>
          </p:cNvPr>
          <p:cNvSpPr txBox="1"/>
          <p:nvPr/>
        </p:nvSpPr>
        <p:spPr>
          <a:xfrm>
            <a:off x="13675750" y="53083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endParaRPr lang="de-DE" dirty="0"/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DF5D74C1-5BE8-25AF-0373-B8188FED763F}"/>
              </a:ext>
            </a:extLst>
          </p:cNvPr>
          <p:cNvSpPr/>
          <p:nvPr/>
        </p:nvSpPr>
        <p:spPr>
          <a:xfrm>
            <a:off x="2209975" y="5347947"/>
            <a:ext cx="676093" cy="253790"/>
          </a:xfrm>
          <a:prstGeom prst="ca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GB" sz="700" b="1" dirty="0"/>
              <a:t>RDBMS</a:t>
            </a:r>
            <a:endParaRPr lang="en-GB" sz="800" b="1" dirty="0"/>
          </a:p>
        </p:txBody>
      </p:sp>
      <p:pic>
        <p:nvPicPr>
          <p:cNvPr id="10" name="Graphic 9" descr="Table outline">
            <a:extLst>
              <a:ext uri="{FF2B5EF4-FFF2-40B4-BE49-F238E27FC236}">
                <a16:creationId xmlns:a16="http://schemas.microsoft.com/office/drawing/2014/main" id="{BC693D5E-05BE-72A4-6B74-3F8A672E1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8053" y="5660742"/>
            <a:ext cx="334949" cy="334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BE9D0F-8262-EC36-B19A-9940F6C8768E}"/>
              </a:ext>
            </a:extLst>
          </p:cNvPr>
          <p:cNvSpPr txBox="1"/>
          <p:nvPr/>
        </p:nvSpPr>
        <p:spPr>
          <a:xfrm>
            <a:off x="2368948" y="5607357"/>
            <a:ext cx="337852" cy="17911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de-DE" sz="700" dirty="0" err="1"/>
              <a:t>merchant</a:t>
            </a:r>
            <a:endParaRPr lang="de-DE" sz="7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7CA2075-0D6A-DDED-E2C3-13B219CFFA4D}"/>
              </a:ext>
            </a:extLst>
          </p:cNvPr>
          <p:cNvSpPr/>
          <p:nvPr/>
        </p:nvSpPr>
        <p:spPr>
          <a:xfrm>
            <a:off x="3196847" y="5369711"/>
            <a:ext cx="659078" cy="20615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/>
              <a:t>CDC</a:t>
            </a:r>
          </a:p>
        </p:txBody>
      </p:sp>
      <p:cxnSp>
        <p:nvCxnSpPr>
          <p:cNvPr id="29" name="Straight Arrow Connector 47">
            <a:extLst>
              <a:ext uri="{FF2B5EF4-FFF2-40B4-BE49-F238E27FC236}">
                <a16:creationId xmlns:a16="http://schemas.microsoft.com/office/drawing/2014/main" id="{AE79C14D-78A0-A7DD-3FC8-4C0102233944}"/>
              </a:ext>
            </a:extLst>
          </p:cNvPr>
          <p:cNvCxnSpPr>
            <a:cxnSpLocks/>
            <a:stCxn id="2" idx="4"/>
            <a:endCxn id="24" idx="1"/>
          </p:cNvCxnSpPr>
          <p:nvPr/>
        </p:nvCxnSpPr>
        <p:spPr>
          <a:xfrm flipV="1">
            <a:off x="2886068" y="5472786"/>
            <a:ext cx="310779" cy="2056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47">
            <a:extLst>
              <a:ext uri="{FF2B5EF4-FFF2-40B4-BE49-F238E27FC236}">
                <a16:creationId xmlns:a16="http://schemas.microsoft.com/office/drawing/2014/main" id="{92FCFC25-735F-9313-26FD-71BE22717799}"/>
              </a:ext>
            </a:extLst>
          </p:cNvPr>
          <p:cNvCxnSpPr>
            <a:cxnSpLocks/>
            <a:stCxn id="24" idx="3"/>
            <a:endCxn id="70" idx="3"/>
          </p:cNvCxnSpPr>
          <p:nvPr/>
        </p:nvCxnSpPr>
        <p:spPr>
          <a:xfrm flipV="1">
            <a:off x="3855925" y="5472472"/>
            <a:ext cx="344870" cy="314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47">
            <a:extLst>
              <a:ext uri="{FF2B5EF4-FFF2-40B4-BE49-F238E27FC236}">
                <a16:creationId xmlns:a16="http://schemas.microsoft.com/office/drawing/2014/main" id="{78D20E2F-262A-3866-C7EF-A7514997369F}"/>
              </a:ext>
            </a:extLst>
          </p:cNvPr>
          <p:cNvCxnSpPr>
            <a:cxnSpLocks/>
            <a:stCxn id="8" idx="1"/>
            <a:endCxn id="68" idx="1"/>
          </p:cNvCxnSpPr>
          <p:nvPr/>
        </p:nvCxnSpPr>
        <p:spPr>
          <a:xfrm>
            <a:off x="4378923" y="1548934"/>
            <a:ext cx="1385736" cy="2379367"/>
          </a:xfrm>
          <a:prstGeom prst="curvedConnector3">
            <a:avLst>
              <a:gd name="adj1" fmla="val 50000"/>
            </a:avLst>
          </a:prstGeom>
          <a:ln>
            <a:solidFill>
              <a:srgbClr val="5A00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32660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E8BD94-4C5F-4212-A7B2-A3B236677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2137</TotalTime>
  <Words>275</Words>
  <Application>Microsoft Macintosh PowerPoint</Application>
  <PresentationFormat>Custom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Palatino Linotype</vt:lpstr>
      <vt:lpstr>System Font</vt:lpstr>
      <vt:lpstr>Accenture 2020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Schmutz Guido</dc:creator>
  <cp:lastModifiedBy>Schmutz Guido</cp:lastModifiedBy>
  <cp:revision>6</cp:revision>
  <cp:lastPrinted>2020-11-17T04:05:48Z</cp:lastPrinted>
  <dcterms:created xsi:type="dcterms:W3CDTF">2026-04-07T12:52:27Z</dcterms:created>
  <dcterms:modified xsi:type="dcterms:W3CDTF">2026-09-09T05:11:46Z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  <property fmtid="{D5CDD505-2E9C-101B-9397-08002B2CF9AE}" pid="3" name="MSIP_Label_84632a45-2c5b-48ac-84ab-9b136753159c_Enabled">
    <vt:lpwstr>true</vt:lpwstr>
  </property>
  <property fmtid="{D5CDD505-2E9C-101B-9397-08002B2CF9AE}" pid="4" name="MSIP_Label_84632a45-2c5b-48ac-84ab-9b136753159c_SetDate">
    <vt:lpwstr>2026-09-06T13:22:45Z</vt:lpwstr>
  </property>
  <property fmtid="{D5CDD505-2E9C-101B-9397-08002B2CF9AE}" pid="5" name="MSIP_Label_84632a45-2c5b-48ac-84ab-9b136753159c_Method">
    <vt:lpwstr>Standard</vt:lpwstr>
  </property>
  <property fmtid="{D5CDD505-2E9C-101B-9397-08002B2CF9AE}" pid="6" name="MSIP_Label_84632a45-2c5b-48ac-84ab-9b136753159c_Name">
    <vt:lpwstr>Intern</vt:lpwstr>
  </property>
  <property fmtid="{D5CDD505-2E9C-101B-9397-08002B2CF9AE}" pid="7" name="MSIP_Label_84632a45-2c5b-48ac-84ab-9b136753159c_SiteId">
    <vt:lpwstr>d6a1cf8c-768e-4187-a738-b6e50c4deb4a</vt:lpwstr>
  </property>
  <property fmtid="{D5CDD505-2E9C-101B-9397-08002B2CF9AE}" pid="8" name="MSIP_Label_84632a45-2c5b-48ac-84ab-9b136753159c_ActionId">
    <vt:lpwstr>0eba8cc7-ba12-499b-a6e4-982ec8eae583</vt:lpwstr>
  </property>
  <property fmtid="{D5CDD505-2E9C-101B-9397-08002B2CF9AE}" pid="9" name="MSIP_Label_84632a45-2c5b-48ac-84ab-9b136753159c_ContentBits">
    <vt:lpwstr>0</vt:lpwstr>
  </property>
  <property fmtid="{D5CDD505-2E9C-101B-9397-08002B2CF9AE}" pid="10" name="MSIP_Label_84632a45-2c5b-48ac-84ab-9b136753159c_Tag">
    <vt:lpwstr>50, 3, 0, 1</vt:lpwstr>
  </property>
</Properties>
</file>